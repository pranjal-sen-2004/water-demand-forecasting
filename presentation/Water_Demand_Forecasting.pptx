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team and the one-line result: on the same unseen 9½ months of data, modelling the weekly cycle as well as the daily cycle cut day-ahead forecast error by about a quarter.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problem matters: utilities schedule pumps and tank levels a day ahead. Pumping costs energy and tanks have limited capacity, so they need tomorrow's hourly demand. Our task: at midnight, forecast each of the next 24 hours from past consumption only. Point at the figure: the daily cycle is obvious, and the weekend mornings (shaded) look different. That observation drives the whole project.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from Zenodo, CC-BY licence, provided by Siemens for a KIT study. We downloaded all three versions and verified the checksums. We chose the version with exactly 24 hours per day, because seasonal periods of 24 and 168 need a regular grid. By comparing with the raw file, we flagged every value the publisher created or changed: 544 hours, mostly a 3-week gap in June 2017 filled with averages from earlier years. Nothing was deleted.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sources were verified on publisher or arXiv pages. Arandia et al.: SARIMA with Kalman updating for water, and weekly-seasonal models remove autocorrelation better than daily ones. Taylor: two seasonal cycles beat one for electricity demand. Bandara et al.: MSTL, the decomposition we use. Pacchin et al.: simple moving-window pattern models are robust. Weyrauch et al. used this exact dataset with deep learning; a simple historical profile was almost as good, and no SARIMA baseline was reported. That is our gap. We do NOT claim nobody has ever done multi-seasonal water forecasting.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Chronological split in whole days, about 70/15/15. Training is used only for exploratory statistics. Validation selects the model configuration for both models with the same rule: lowest validation MAE. Test is used exactly once. Every model follows the same rolling protocol: each day at midnight it sees data up to 23:00 yesterday and forecasts the next 24 hours, 288 times. Weather is excluded because tomorrow's weather isn't known at midnight without a weather forecast.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Demand drops to about 666 m³/h at 3 am and peaks around 3405 at 9 am. The weekday averages differ only slightly, but the heat map shows the real weekly effect: Saturday and Sunday mornings start later and peak higher. MSTL seasonal strength confirms both cycles: 0.96 daily and 0.67 weekly, on a 0-to-1 scale. We verified the weekly cycle from the data rather than assuming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ADF tests the null of a unit root; KPSS tests the null of stationarity. On the raw level they disagree: ADF rejects a unit root, KPSS rejects stationarity, because the mean moves with the daily cycle. After one seasonal difference at lag 24, both agree the series is stationary, so d = 0 and D = 1. Then look at panel (c): the PACF cuts off after about two lags, so a low AR order; a negative spike at 24 suggests a seasonal MA term; and a big spike at 168, 0.53, is left over. SARIMA with s = 24 cannot model that. This is the motivation for the enhancement.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Baseline: SARIMA(3,0,1)(0,1,1)24. Six candidate orders came from the ACF and PACF, times three estimation windows, giving 18 configurations. Fitting on all 32,000 training hours with s = 24 is impractical on a laptop, so parameters are estimated on the most recent weeks. After that the parameters are fixed and the Kalman filter absorbs each new day, as Arandia et al. did. The best on validation was the 4-week window. All coefficients are significant. The AR terms sum to nearly 1, so it behaves almost like an integrated model. Residuals look roughly normal, but a lag-24 spike remains.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model, step by step, at every midnight. One: take the last 12 weeks. Two: MSTL splits them into trend, a daily component, a weekly component and a remainder. Three: extend each seasonal component by repeating its latest cycle, yesterday's for the daily part and last week's for the weekly part. Four: take out the seasonal parts and forecast what is left, trend plus remainder, with ARIMA(1,1,1). Five: add everything back. MSTL itself does not forecast; the forecast comes from steps 3 to 5. Window length mattered most: 12 weeks beat 4, because four weeks give only four weekly cycles to learn from.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Headline results on the test period, 6,912 forecasts. MAE falls from 270.7 to 199.1 m³/h, 26.4% lower. RMSE falls 27.3%. MAPE falls from 15.9 to 11.2%, though MAPE is inflated by small night values, so MAE and RMSE are our main metrics. Is it just luck? The Diebold–Mariano test on daily losses gives a statistic of 10.9, p far below 0.001, and the bootstrap 95% interval for the MAE reduction is 22 to 32%. Honest note: SARIMA is not significantly better than simply copying last week (p = 0.43).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does the gain come from? Left: SARIMA's error explodes at 7 am, 736 m³/h, because on Saturdays and Mondays 'yesterday' has the wrong morning ramp. MSTL-ARIMA stays at 271. Right: SARIMA's weekend error is 370 vs 231 on weekdays. MSTL-ARIMA is much flatter. The ablation is the key evidence: the same pipeline without the weekly component is worse than SARIMA, MAE 289. So the improvement comes from the weekly cycle, not from decomposition in general. The lag-168 error autocorrelation drops from 0.56 to 0.03.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Hypothesis supported: multi-seasonal modelling clearly helps here. But be honest about the limits. One district, and a test period overlapping 2020–21, which may be unusual. The biggest remaining errors are summer evenings driven by weather, which neither model sees. We compared with SARIMA, not with TBATS or double-seasonal Holt-Winters. We produced point forecasts without intervals. And we measured accuracy, not energy savings, so any savings are a potential application, not a result.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in three sentences: weekly seasonality matters in this water network; a simple, leakage-free MSTL plus ARIMA pipeline captures it and cuts error by about a quarter; next steps are holidays, weather forecasts and prediction intervals. Then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E4A"/>
        </a:solidFill>
        <a:effectLst/>
      </p:bgPr>
    </p:bg>
    <p:spTree>
      <p:nvGrpSpPr>
        <p:cNvPr id="1" name=""/>
        <p:cNvGrpSpPr/>
        <p:nvPr/>
      </p:nvGrpSpPr>
      <p:grpSpPr/>
      <p:sp>
        <p:nvSpPr>
          <p:cNvPr id="2" name="TextBox 1"/>
          <p:cNvSpPr txBox="1"/>
          <p:nvPr/>
        </p:nvSpPr>
        <p:spPr>
          <a:xfrm>
            <a:off x="731520" y="1188720"/>
            <a:ext cx="10515600" cy="457200"/>
          </a:xfrm>
          <a:prstGeom prst="rect">
            <a:avLst/>
          </a:prstGeom>
          <a:noFill/>
        </p:spPr>
        <p:txBody>
          <a:bodyPr wrap="square" anchor="t" lIns="45720" rIns="45720">
            <a:spAutoFit/>
          </a:bodyPr>
          <a:lstStyle/>
          <a:p>
            <a:pPr algn="l">
              <a:spcAft>
                <a:spcPts val="600"/>
              </a:spcAft>
            </a:pPr>
            <a:r>
              <a:rPr sz="1600" b="1" i="0">
                <a:solidFill>
                  <a:srgbClr val="9EC5F4"/>
                </a:solidFill>
                <a:latin typeface="Calibri"/>
              </a:rPr>
              <a:t>TIME SERIES ANALYSIS · LAB AAT · SMART CITY</a:t>
            </a:r>
          </a:p>
        </p:txBody>
      </p:sp>
      <p:sp>
        <p:nvSpPr>
          <p:cNvPr id="3" name="TextBox 2"/>
          <p:cNvSpPr txBox="1"/>
          <p:nvPr/>
        </p:nvSpPr>
        <p:spPr>
          <a:xfrm>
            <a:off x="731520" y="1737360"/>
            <a:ext cx="10515600" cy="2011680"/>
          </a:xfrm>
          <a:prstGeom prst="rect">
            <a:avLst/>
          </a:prstGeom>
          <a:noFill/>
        </p:spPr>
        <p:txBody>
          <a:bodyPr wrap="square" anchor="t" lIns="45720" rIns="45720">
            <a:spAutoFit/>
          </a:bodyPr>
          <a:lstStyle/>
          <a:p>
            <a:pPr algn="l">
              <a:spcAft>
                <a:spcPts val="600"/>
              </a:spcAft>
            </a:pPr>
            <a:r>
              <a:rPr sz="4000" b="1" i="0">
                <a:solidFill>
                  <a:srgbClr val="FFFFFF"/>
                </a:solidFill>
                <a:latin typeface="Cambria"/>
              </a:rPr>
              <a:t>Hourly Urban Water Demand Forecasting with SARIMA and Multi-Seasonal Decomposition</a:t>
            </a:r>
          </a:p>
        </p:txBody>
      </p:sp>
      <p:sp>
        <p:nvSpPr>
          <p:cNvPr id="4" name="TextBox 3"/>
          <p:cNvSpPr txBox="1"/>
          <p:nvPr/>
        </p:nvSpPr>
        <p:spPr>
          <a:xfrm>
            <a:off x="731520" y="3931920"/>
            <a:ext cx="10515600" cy="548640"/>
          </a:xfrm>
          <a:prstGeom prst="rect">
            <a:avLst/>
          </a:prstGeom>
          <a:noFill/>
        </p:spPr>
        <p:txBody>
          <a:bodyPr wrap="square" anchor="t" lIns="45720" rIns="45720">
            <a:spAutoFit/>
          </a:bodyPr>
          <a:lstStyle/>
          <a:p>
            <a:pPr algn="l">
              <a:spcAft>
                <a:spcPts val="600"/>
              </a:spcAft>
            </a:pPr>
            <a:r>
              <a:rPr sz="2000" b="1" i="0">
                <a:solidFill>
                  <a:srgbClr val="F5B493"/>
                </a:solidFill>
                <a:latin typeface="Calibri"/>
              </a:rPr>
              <a:t>Day-ahead MAE: 271 → 199 m³/h  (26.4% lower) on 6,912 unseen hours</a:t>
            </a:r>
          </a:p>
        </p:txBody>
      </p:sp>
      <p:sp>
        <p:nvSpPr>
          <p:cNvPr id="5" name="TextBox 4"/>
          <p:cNvSpPr txBox="1"/>
          <p:nvPr/>
        </p:nvSpPr>
        <p:spPr>
          <a:xfrm>
            <a:off x="731520" y="4937760"/>
            <a:ext cx="10515600" cy="1097280"/>
          </a:xfrm>
          <a:prstGeom prst="rect">
            <a:avLst/>
          </a:prstGeom>
          <a:noFill/>
        </p:spPr>
        <p:txBody>
          <a:bodyPr wrap="square" anchor="t" lIns="45720" rIns="45720">
            <a:spAutoFit/>
          </a:bodyPr>
          <a:lstStyle/>
          <a:p>
            <a:pPr algn="l">
              <a:spcAft>
                <a:spcPts val="600"/>
              </a:spcAft>
            </a:pPr>
            <a:r>
              <a:rPr sz="1600" b="0" i="0">
                <a:solidFill>
                  <a:srgbClr val="D6E2EE"/>
                </a:solidFill>
                <a:latin typeface="Calibri"/>
              </a:rPr>
              <a:t>[Member 1 · USN]   [Member 2 · USN]   [Member 3 · USN]   [Member 4 · USN]</a:t>
            </a:r>
          </a:p>
          <a:p>
            <a:pPr algn="l">
              <a:spcAft>
                <a:spcPts val="600"/>
              </a:spcAft>
            </a:pPr>
            <a:r>
              <a:rPr sz="1600" b="0" i="0">
                <a:solidFill>
                  <a:srgbClr val="D6E2EE"/>
                </a:solidFill>
                <a:latin typeface="Calibri"/>
              </a:rPr>
              <a:t>Instructor: [Name]  ·  30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lIns="45720" rIns="45720">
            <a:spAutoFit/>
          </a:bodyPr>
          <a:lstStyle/>
          <a:p>
            <a:pPr algn="l">
              <a:spcAft>
                <a:spcPts val="600"/>
              </a:spcAft>
            </a:pPr>
            <a:r>
              <a:rPr sz="3400" b="1" i="0">
                <a:solidFill>
                  <a:srgbClr val="0B2E4A"/>
                </a:solidFill>
                <a:latin typeface="Cambria"/>
              </a:rPr>
              <a:t>Problem: forecast tomorrow's hourly water demand</a:t>
            </a:r>
          </a:p>
        </p:txBody>
      </p:sp>
      <p:sp>
        <p:nvSpPr>
          <p:cNvPr id="3" name="TextBox 2"/>
          <p:cNvSpPr txBox="1"/>
          <p:nvPr/>
        </p:nvSpPr>
        <p:spPr>
          <a:xfrm>
            <a:off x="548640" y="987552"/>
            <a:ext cx="11094415" cy="411480"/>
          </a:xfrm>
          <a:prstGeom prst="rect">
            <a:avLst/>
          </a:prstGeom>
          <a:noFill/>
        </p:spPr>
        <p:txBody>
          <a:bodyPr wrap="square" anchor="t" lIns="45720" rIns="45720">
            <a:spAutoFit/>
          </a:bodyPr>
          <a:lstStyle/>
          <a:p>
            <a:pPr algn="l">
              <a:spcAft>
                <a:spcPts val="600"/>
              </a:spcAft>
            </a:pPr>
            <a:r>
              <a:rPr sz="1600" b="0" i="0">
                <a:solidFill>
                  <a:srgbClr val="555B63"/>
                </a:solidFill>
                <a:latin typeface="Calibri"/>
              </a:rPr>
              <a:t>Smart City domain · day-ahead (1–24 h) forecasting from past consumption</a:t>
            </a:r>
          </a:p>
        </p:txBody>
      </p:sp>
      <p:sp>
        <p:nvSpPr>
          <p:cNvPr id="4" name="TextBox 3"/>
          <p:cNvSpPr txBox="1"/>
          <p:nvPr/>
        </p:nvSpPr>
        <p:spPr>
          <a:xfrm>
            <a:off x="548640" y="1600200"/>
            <a:ext cx="4480560" cy="4480560"/>
          </a:xfrm>
          <a:prstGeom prst="rect">
            <a:avLst/>
          </a:prstGeom>
          <a:noFill/>
        </p:spPr>
        <p:txBody>
          <a:bodyPr wrap="square">
            <a:spAutoFit/>
          </a:bodyPr>
          <a:lstStyle/>
          <a:p>
            <a:pPr>
              <a:spcAft>
                <a:spcPts val="800"/>
              </a:spcAft>
            </a:pPr>
            <a:r>
              <a:rPr sz="1600" b="1">
                <a:solidFill>
                  <a:srgbClr val="1A1A1A"/>
                </a:solidFill>
                <a:latin typeface="Calibri"/>
              </a:rPr>
              <a:t>•  Why: </a:t>
            </a:r>
            <a:r>
              <a:rPr sz="1600" b="0">
                <a:solidFill>
                  <a:srgbClr val="1A1A1A"/>
                </a:solidFill>
                <a:latin typeface="Calibri"/>
              </a:rPr>
              <a:t>pump schedules and tank levels are planned a day ahead</a:t>
            </a:r>
          </a:p>
          <a:p>
            <a:pPr>
              <a:spcAft>
                <a:spcPts val="800"/>
              </a:spcAft>
            </a:pPr>
            <a:r>
              <a:rPr sz="1600" b="1">
                <a:solidFill>
                  <a:srgbClr val="1A1A1A"/>
                </a:solidFill>
                <a:latin typeface="Calibri"/>
              </a:rPr>
              <a:t>•  Task: </a:t>
            </a:r>
            <a:r>
              <a:rPr sz="1600" b="0">
                <a:solidFill>
                  <a:srgbClr val="1A1A1A"/>
                </a:solidFill>
                <a:latin typeface="Calibri"/>
              </a:rPr>
              <a:t>at 00:00 forecast all 24 hours of the day</a:t>
            </a:r>
          </a:p>
          <a:p>
            <a:pPr>
              <a:spcAft>
                <a:spcPts val="800"/>
              </a:spcAft>
            </a:pPr>
            <a:r>
              <a:rPr sz="1600" b="1">
                <a:solidFill>
                  <a:srgbClr val="1A1A1A"/>
                </a:solidFill>
                <a:latin typeface="Calibri"/>
              </a:rPr>
              <a:t>•  Challenge: </a:t>
            </a:r>
            <a:r>
              <a:rPr sz="1600" b="0">
                <a:solidFill>
                  <a:srgbClr val="1A1A1A"/>
                </a:solidFill>
                <a:latin typeface="Calibri"/>
              </a:rPr>
              <a:t>a daily cycle and a weekly cycle that changes the shape of the day</a:t>
            </a:r>
          </a:p>
          <a:p>
            <a:pPr>
              <a:spcAft>
                <a:spcPts val="800"/>
              </a:spcAft>
            </a:pPr>
            <a:r>
              <a:rPr sz="1600" b="1">
                <a:solidFill>
                  <a:srgbClr val="1A1A1A"/>
                </a:solidFill>
                <a:latin typeface="Calibri"/>
              </a:rPr>
              <a:t>•  RQ: </a:t>
            </a:r>
            <a:r>
              <a:rPr sz="1600" b="0">
                <a:solidFill>
                  <a:srgbClr val="1A1A1A"/>
                </a:solidFill>
                <a:latin typeface="Calibri"/>
              </a:rPr>
              <a:t>does modelling both cycles beat a standard SARIMA on the same unseen data?</a:t>
            </a:r>
          </a:p>
        </p:txBody>
      </p:sp>
      <p:pic>
        <p:nvPicPr>
          <p:cNvPr id="5" name="Picture 4" descr="fig02_two_week_zoom.png"/>
          <p:cNvPicPr>
            <a:picLocks noChangeAspect="1"/>
          </p:cNvPicPr>
          <p:nvPr/>
        </p:nvPicPr>
        <p:blipFill>
          <a:blip r:embed="rId3"/>
          <a:stretch>
            <a:fillRect/>
          </a:stretch>
        </p:blipFill>
        <p:spPr>
          <a:xfrm>
            <a:off x="5212080" y="1691640"/>
            <a:ext cx="6492240" cy="2265138"/>
          </a:xfrm>
          <a:prstGeom prst="rect">
            <a:avLst/>
          </a:prstGeom>
        </p:spPr>
      </p:pic>
      <p:sp>
        <p:nvSpPr>
          <p:cNvPr id="6" name="TextBox 5"/>
          <p:cNvSpPr txBox="1"/>
          <p:nvPr/>
        </p:nvSpPr>
        <p:spPr>
          <a:xfrm>
            <a:off x="5212080" y="4206240"/>
            <a:ext cx="6492240" cy="548640"/>
          </a:xfrm>
          <a:prstGeom prst="rect">
            <a:avLst/>
          </a:prstGeom>
          <a:noFill/>
        </p:spPr>
        <p:txBody>
          <a:bodyPr wrap="square" anchor="t" lIns="45720" rIns="45720">
            <a:spAutoFit/>
          </a:bodyPr>
          <a:lstStyle/>
          <a:p>
            <a:pPr algn="l">
              <a:spcAft>
                <a:spcPts val="600"/>
              </a:spcAft>
            </a:pPr>
            <a:r>
              <a:rPr sz="1300" b="0" i="0">
                <a:solidFill>
                  <a:srgbClr val="555B63"/>
                </a:solidFill>
                <a:latin typeface="Calibri"/>
              </a:rPr>
              <a:t>Weekend mornings (shaded) start later and peak higher.</a:t>
            </a:r>
          </a:p>
        </p:txBody>
      </p:sp>
      <p:sp>
        <p:nvSpPr>
          <p:cNvPr id="7" name="TextBox 6"/>
          <p:cNvSpPr txBox="1"/>
          <p:nvPr/>
        </p:nvSpPr>
        <p:spPr>
          <a:xfrm>
            <a:off x="548640" y="6400800"/>
            <a:ext cx="8229600" cy="320040"/>
          </a:xfrm>
          <a:prstGeom prst="rect">
            <a:avLst/>
          </a:prstGeom>
          <a:noFill/>
        </p:spPr>
        <p:txBody>
          <a:bodyPr wrap="square" anchor="t" lIns="45720" rIns="45720">
            <a:spAutoFit/>
          </a:bodyPr>
          <a:lstStyle/>
          <a:p>
            <a:pPr algn="l">
              <a:spcAft>
                <a:spcPts val="600"/>
              </a:spcAft>
            </a:pPr>
            <a:r>
              <a:rPr sz="1000" b="0" i="0">
                <a:solidFill>
                  <a:srgbClr val="555B63"/>
                </a:solidFill>
                <a:latin typeface="Calibri"/>
              </a:rPr>
              <a:t>Hourly Urban Water Demand Forecasting · Time Series Analysis (24AM7PCTSA)</a:t>
            </a:r>
          </a:p>
        </p:txBody>
      </p:sp>
      <p:sp>
        <p:nvSpPr>
          <p:cNvPr id="8" name="TextBox 7"/>
          <p:cNvSpPr txBox="1"/>
          <p:nvPr/>
        </p:nvSpPr>
        <p:spPr>
          <a:xfrm>
            <a:off x="10911535" y="6400800"/>
            <a:ext cx="731520" cy="320040"/>
          </a:xfrm>
          <a:prstGeom prst="rect">
            <a:avLst/>
          </a:prstGeom>
          <a:noFill/>
        </p:spPr>
        <p:txBody>
          <a:bodyPr wrap="square" anchor="t" lIns="45720" rIns="45720">
            <a:spAutoFit/>
          </a:bodyPr>
          <a:lstStyle/>
          <a:p>
            <a:pPr algn="r">
              <a:spcAft>
                <a:spcPts val="600"/>
              </a:spcAft>
            </a:pPr>
            <a:r>
              <a:rPr sz="1000" b="0" i="0">
                <a:solidFill>
                  <a:srgbClr val="555B63"/>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lIns="45720" rIns="45720">
            <a:spAutoFit/>
          </a:bodyPr>
          <a:lstStyle/>
          <a:p>
            <a:pPr algn="l">
              <a:spcAft>
                <a:spcPts val="600"/>
              </a:spcAft>
            </a:pPr>
            <a:r>
              <a:rPr sz="3400" b="1" i="0">
                <a:solidFill>
                  <a:srgbClr val="0B2E4A"/>
                </a:solidFill>
                <a:latin typeface="Cambria"/>
              </a:rPr>
              <a:t>Dataset: 5¼ years of hourly pumping data</a:t>
            </a:r>
          </a:p>
        </p:txBody>
      </p:sp>
      <p:sp>
        <p:nvSpPr>
          <p:cNvPr id="3" name="TextBox 2"/>
          <p:cNvSpPr txBox="1"/>
          <p:nvPr/>
        </p:nvSpPr>
        <p:spPr>
          <a:xfrm>
            <a:off x="548640" y="987552"/>
            <a:ext cx="11094415" cy="411480"/>
          </a:xfrm>
          <a:prstGeom prst="rect">
            <a:avLst/>
          </a:prstGeom>
          <a:noFill/>
        </p:spPr>
        <p:txBody>
          <a:bodyPr wrap="square" anchor="t" lIns="45720" rIns="45720">
            <a:spAutoFit/>
          </a:bodyPr>
          <a:lstStyle/>
          <a:p>
            <a:pPr algn="l">
              <a:spcAft>
                <a:spcPts val="600"/>
              </a:spcAft>
            </a:pPr>
            <a:r>
              <a:rPr sz="1600" b="0" i="0">
                <a:solidFill>
                  <a:srgbClr val="555B63"/>
                </a:solidFill>
                <a:latin typeface="Calibri"/>
              </a:rPr>
              <a:t>Weyrauch et al. (2024), Zenodo doi:10.5281/zenodo.11045013 · residential + commercial + industrial users</a:t>
            </a:r>
          </a:p>
        </p:txBody>
      </p:sp>
      <p:sp>
        <p:nvSpPr>
          <p:cNvPr id="4" name="Rounded Rectangle 3"/>
          <p:cNvSpPr/>
          <p:nvPr/>
        </p:nvSpPr>
        <p:spPr>
          <a:xfrm>
            <a:off x="548640" y="1645920"/>
            <a:ext cx="2651760" cy="1417320"/>
          </a:xfrm>
          <a:prstGeom prst="roundRect">
            <a:avLst>
              <a:gd name="adj" fmla="val 80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55648"/>
            <a:ext cx="2377440" cy="731520"/>
          </a:xfrm>
          <a:prstGeom prst="rect">
            <a:avLst/>
          </a:prstGeom>
          <a:noFill/>
        </p:spPr>
        <p:txBody>
          <a:bodyPr wrap="square" anchor="t" lIns="45720" rIns="45720">
            <a:spAutoFit/>
          </a:bodyPr>
          <a:lstStyle/>
          <a:p>
            <a:pPr algn="l">
              <a:spcAft>
                <a:spcPts val="600"/>
              </a:spcAft>
            </a:pPr>
            <a:r>
              <a:rPr sz="4000" b="1" i="0">
                <a:solidFill>
                  <a:srgbClr val="0B2E4A"/>
                </a:solidFill>
                <a:latin typeface="Cambria"/>
              </a:rPr>
              <a:t>46,032</a:t>
            </a:r>
          </a:p>
        </p:txBody>
      </p:sp>
      <p:sp>
        <p:nvSpPr>
          <p:cNvPr id="6" name="TextBox 5"/>
          <p:cNvSpPr txBox="1"/>
          <p:nvPr/>
        </p:nvSpPr>
        <p:spPr>
          <a:xfrm>
            <a:off x="685800" y="2487168"/>
            <a:ext cx="2377440" cy="548640"/>
          </a:xfrm>
          <a:prstGeom prst="rect">
            <a:avLst/>
          </a:prstGeom>
          <a:noFill/>
        </p:spPr>
        <p:txBody>
          <a:bodyPr wrap="square" anchor="t" lIns="45720" rIns="45720">
            <a:spAutoFit/>
          </a:bodyPr>
          <a:lstStyle/>
          <a:p>
            <a:pPr algn="l">
              <a:spcAft>
                <a:spcPts val="600"/>
              </a:spcAft>
            </a:pPr>
            <a:r>
              <a:rPr sz="1300" b="0" i="0">
                <a:solidFill>
                  <a:srgbClr val="555B63"/>
                </a:solidFill>
                <a:latin typeface="Calibri"/>
              </a:rPr>
              <a:t>hourly observations
2016-01-01 → 2021-04-01</a:t>
            </a:r>
          </a:p>
        </p:txBody>
      </p:sp>
      <p:sp>
        <p:nvSpPr>
          <p:cNvPr id="7" name="Rounded Rectangle 6"/>
          <p:cNvSpPr/>
          <p:nvPr/>
        </p:nvSpPr>
        <p:spPr>
          <a:xfrm>
            <a:off x="3383280" y="1645920"/>
            <a:ext cx="2651760" cy="1417320"/>
          </a:xfrm>
          <a:prstGeom prst="roundRect">
            <a:avLst>
              <a:gd name="adj" fmla="val 80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20440" y="1755648"/>
            <a:ext cx="2377440" cy="731520"/>
          </a:xfrm>
          <a:prstGeom prst="rect">
            <a:avLst/>
          </a:prstGeom>
          <a:noFill/>
        </p:spPr>
        <p:txBody>
          <a:bodyPr wrap="square" anchor="t" lIns="45720" rIns="45720">
            <a:spAutoFit/>
          </a:bodyPr>
          <a:lstStyle/>
          <a:p>
            <a:pPr algn="l">
              <a:spcAft>
                <a:spcPts val="600"/>
              </a:spcAft>
            </a:pPr>
            <a:r>
              <a:rPr sz="4000" b="1" i="0">
                <a:solidFill>
                  <a:srgbClr val="0B2E4A"/>
                </a:solidFill>
                <a:latin typeface="Cambria"/>
              </a:rPr>
              <a:t>1.18%</a:t>
            </a:r>
          </a:p>
        </p:txBody>
      </p:sp>
      <p:sp>
        <p:nvSpPr>
          <p:cNvPr id="9" name="TextBox 8"/>
          <p:cNvSpPr txBox="1"/>
          <p:nvPr/>
        </p:nvSpPr>
        <p:spPr>
          <a:xfrm>
            <a:off x="3520440" y="2487168"/>
            <a:ext cx="2377440" cy="548640"/>
          </a:xfrm>
          <a:prstGeom prst="rect">
            <a:avLst/>
          </a:prstGeom>
          <a:noFill/>
        </p:spPr>
        <p:txBody>
          <a:bodyPr wrap="square" anchor="t" lIns="45720" rIns="45720">
            <a:spAutoFit/>
          </a:bodyPr>
          <a:lstStyle/>
          <a:p>
            <a:pPr algn="l">
              <a:spcAft>
                <a:spcPts val="600"/>
              </a:spcAft>
            </a:pPr>
            <a:r>
              <a:rPr sz="1300" b="0" i="0">
                <a:solidFill>
                  <a:srgbClr val="555B63"/>
                </a:solidFill>
                <a:latin typeface="Calibri"/>
              </a:rPr>
              <a:t>hours filled or altered by publisher (flagged)</a:t>
            </a:r>
          </a:p>
        </p:txBody>
      </p:sp>
      <p:sp>
        <p:nvSpPr>
          <p:cNvPr id="10" name="Rounded Rectangle 9"/>
          <p:cNvSpPr/>
          <p:nvPr/>
        </p:nvSpPr>
        <p:spPr>
          <a:xfrm>
            <a:off x="6217920" y="1645920"/>
            <a:ext cx="2651760" cy="1417320"/>
          </a:xfrm>
          <a:prstGeom prst="roundRect">
            <a:avLst>
              <a:gd name="adj" fmla="val 80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755648"/>
            <a:ext cx="2377440" cy="731520"/>
          </a:xfrm>
          <a:prstGeom prst="rect">
            <a:avLst/>
          </a:prstGeom>
          <a:noFill/>
        </p:spPr>
        <p:txBody>
          <a:bodyPr wrap="square" anchor="t" lIns="45720" rIns="45720">
            <a:spAutoFit/>
          </a:bodyPr>
          <a:lstStyle/>
          <a:p>
            <a:pPr algn="l">
              <a:spcAft>
                <a:spcPts val="600"/>
              </a:spcAft>
            </a:pPr>
            <a:r>
              <a:rPr sz="4000" b="1" i="0">
                <a:solidFill>
                  <a:srgbClr val="0B2E4A"/>
                </a:solidFill>
                <a:latin typeface="Cambria"/>
              </a:rPr>
              <a:t>0</a:t>
            </a:r>
          </a:p>
        </p:txBody>
      </p:sp>
      <p:sp>
        <p:nvSpPr>
          <p:cNvPr id="12" name="TextBox 11"/>
          <p:cNvSpPr txBox="1"/>
          <p:nvPr/>
        </p:nvSpPr>
        <p:spPr>
          <a:xfrm>
            <a:off x="6355080" y="2487168"/>
            <a:ext cx="2377440" cy="548640"/>
          </a:xfrm>
          <a:prstGeom prst="rect">
            <a:avLst/>
          </a:prstGeom>
          <a:noFill/>
        </p:spPr>
        <p:txBody>
          <a:bodyPr wrap="square" anchor="t" lIns="45720" rIns="45720">
            <a:spAutoFit/>
          </a:bodyPr>
          <a:lstStyle/>
          <a:p>
            <a:pPr algn="l">
              <a:spcAft>
                <a:spcPts val="600"/>
              </a:spcAft>
            </a:pPr>
            <a:r>
              <a:rPr sz="1300" b="0" i="0">
                <a:solidFill>
                  <a:srgbClr val="555B63"/>
                </a:solidFill>
                <a:latin typeface="Calibri"/>
              </a:rPr>
              <a:t>rows removed · 0 duplicates · 0 negative values</a:t>
            </a:r>
          </a:p>
        </p:txBody>
      </p:sp>
      <p:sp>
        <p:nvSpPr>
          <p:cNvPr id="13" name="Rounded Rectangle 12"/>
          <p:cNvSpPr/>
          <p:nvPr/>
        </p:nvSpPr>
        <p:spPr>
          <a:xfrm>
            <a:off x="9052560" y="1645920"/>
            <a:ext cx="2606040" cy="1417320"/>
          </a:xfrm>
          <a:prstGeom prst="roundRect">
            <a:avLst>
              <a:gd name="adj" fmla="val 80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9720" y="1755648"/>
            <a:ext cx="2331720" cy="731520"/>
          </a:xfrm>
          <a:prstGeom prst="rect">
            <a:avLst/>
          </a:prstGeom>
          <a:noFill/>
        </p:spPr>
        <p:txBody>
          <a:bodyPr wrap="square" anchor="t" lIns="45720" rIns="45720">
            <a:spAutoFit/>
          </a:bodyPr>
          <a:lstStyle/>
          <a:p>
            <a:pPr algn="l">
              <a:spcAft>
                <a:spcPts val="600"/>
              </a:spcAft>
            </a:pPr>
            <a:r>
              <a:rPr sz="4000" b="1" i="0">
                <a:solidFill>
                  <a:srgbClr val="0B2E4A"/>
                </a:solidFill>
                <a:latin typeface="Cambria"/>
              </a:rPr>
              <a:t>2,314</a:t>
            </a:r>
          </a:p>
        </p:txBody>
      </p:sp>
      <p:sp>
        <p:nvSpPr>
          <p:cNvPr id="15" name="TextBox 14"/>
          <p:cNvSpPr txBox="1"/>
          <p:nvPr/>
        </p:nvSpPr>
        <p:spPr>
          <a:xfrm>
            <a:off x="9189720" y="2487168"/>
            <a:ext cx="2331720" cy="548640"/>
          </a:xfrm>
          <a:prstGeom prst="rect">
            <a:avLst/>
          </a:prstGeom>
          <a:noFill/>
        </p:spPr>
        <p:txBody>
          <a:bodyPr wrap="square" anchor="t" lIns="45720" rIns="45720">
            <a:spAutoFit/>
          </a:bodyPr>
          <a:lstStyle/>
          <a:p>
            <a:pPr algn="l">
              <a:spcAft>
                <a:spcPts val="600"/>
              </a:spcAft>
            </a:pPr>
            <a:r>
              <a:rPr sz="1300" b="0" i="0">
                <a:solidFill>
                  <a:srgbClr val="555B63"/>
                </a:solidFill>
                <a:latin typeface="Calibri"/>
              </a:rPr>
              <a:t>mean m³/h (range 1 – 6,514)</a:t>
            </a:r>
          </a:p>
        </p:txBody>
      </p:sp>
      <p:pic>
        <p:nvPicPr>
          <p:cNvPr id="16" name="Picture 15" descr="fig01_full_series.png"/>
          <p:cNvPicPr>
            <a:picLocks noChangeAspect="1"/>
          </p:cNvPicPr>
          <p:nvPr/>
        </p:nvPicPr>
        <p:blipFill>
          <a:blip r:embed="rId3"/>
          <a:stretch>
            <a:fillRect/>
          </a:stretch>
        </p:blipFill>
        <p:spPr>
          <a:xfrm>
            <a:off x="1280160" y="3246120"/>
            <a:ext cx="7944285" cy="3063240"/>
          </a:xfrm>
          <a:prstGeom prst="rect">
            <a:avLst/>
          </a:prstGeom>
        </p:spPr>
      </p:pic>
      <p:sp>
        <p:nvSpPr>
          <p:cNvPr id="17" name="TextBox 16"/>
          <p:cNvSpPr txBox="1"/>
          <p:nvPr/>
        </p:nvSpPr>
        <p:spPr>
          <a:xfrm>
            <a:off x="548640" y="6400800"/>
            <a:ext cx="8229600" cy="320040"/>
          </a:xfrm>
          <a:prstGeom prst="rect">
            <a:avLst/>
          </a:prstGeom>
          <a:noFill/>
        </p:spPr>
        <p:txBody>
          <a:bodyPr wrap="square" anchor="t" lIns="45720" rIns="45720">
            <a:spAutoFit/>
          </a:bodyPr>
          <a:lstStyle/>
          <a:p>
            <a:pPr algn="l">
              <a:spcAft>
                <a:spcPts val="600"/>
              </a:spcAft>
            </a:pPr>
            <a:r>
              <a:rPr sz="1000" b="0" i="0">
                <a:solidFill>
                  <a:srgbClr val="555B63"/>
                </a:solidFill>
                <a:latin typeface="Calibri"/>
              </a:rPr>
              <a:t>Hourly Urban Water Demand Forecasting · Time Series Analysis (24AM7PCTSA)</a:t>
            </a:r>
          </a:p>
        </p:txBody>
      </p:sp>
      <p:sp>
        <p:nvSpPr>
          <p:cNvPr id="18" name="TextBox 17"/>
          <p:cNvSpPr txBox="1"/>
          <p:nvPr/>
        </p:nvSpPr>
        <p:spPr>
          <a:xfrm>
            <a:off x="10911535" y="6400800"/>
            <a:ext cx="731520" cy="320040"/>
          </a:xfrm>
          <a:prstGeom prst="rect">
            <a:avLst/>
          </a:prstGeom>
          <a:noFill/>
        </p:spPr>
        <p:txBody>
          <a:bodyPr wrap="square" anchor="t" lIns="45720" rIns="45720">
            <a:spAutoFit/>
          </a:bodyPr>
          <a:lstStyle/>
          <a:p>
            <a:pPr algn="r">
              <a:spcAft>
                <a:spcPts val="600"/>
              </a:spcAft>
            </a:pPr>
            <a:r>
              <a:rPr sz="1000" b="0" i="0">
                <a:solidFill>
                  <a:srgbClr val="555B63"/>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lIns="45720" rIns="45720">
            <a:spAutoFit/>
          </a:bodyPr>
          <a:lstStyle/>
          <a:p>
            <a:pPr algn="l">
              <a:spcAft>
                <a:spcPts val="600"/>
              </a:spcAft>
            </a:pPr>
            <a:r>
              <a:rPr sz="3400" b="1" i="0">
                <a:solidFill>
                  <a:srgbClr val="0B2E4A"/>
                </a:solidFill>
                <a:latin typeface="Cambria"/>
              </a:rPr>
              <a:t>Literature review → research gap</a:t>
            </a:r>
          </a:p>
        </p:txBody>
      </p:sp>
      <p:sp>
        <p:nvSpPr>
          <p:cNvPr id="3" name="TextBox 2"/>
          <p:cNvSpPr txBox="1"/>
          <p:nvPr/>
        </p:nvSpPr>
        <p:spPr>
          <a:xfrm>
            <a:off x="548640" y="987552"/>
            <a:ext cx="11094415" cy="411480"/>
          </a:xfrm>
          <a:prstGeom prst="rect">
            <a:avLst/>
          </a:prstGeom>
          <a:noFill/>
        </p:spPr>
        <p:txBody>
          <a:bodyPr wrap="square" anchor="t" lIns="45720" rIns="45720">
            <a:spAutoFit/>
          </a:bodyPr>
          <a:lstStyle/>
          <a:p>
            <a:pPr algn="l">
              <a:spcAft>
                <a:spcPts val="600"/>
              </a:spcAft>
            </a:pPr>
            <a:r>
              <a:rPr sz="1600" b="0" i="0">
                <a:solidFill>
                  <a:srgbClr val="555B63"/>
                </a:solidFill>
                <a:latin typeface="Calibri"/>
              </a:rPr>
              <a:t>Seven verified sources (full matrix in report, Table 1)</a:t>
            </a:r>
          </a:p>
        </p:txBody>
      </p:sp>
      <p:sp>
        <p:nvSpPr>
          <p:cNvPr id="4" name="Rounded Rectangle 3"/>
          <p:cNvSpPr/>
          <p:nvPr/>
        </p:nvSpPr>
        <p:spPr>
          <a:xfrm>
            <a:off x="548640" y="1600200"/>
            <a:ext cx="3611880" cy="1344168"/>
          </a:xfrm>
          <a:prstGeom prst="roundRect">
            <a:avLst>
              <a:gd name="adj" fmla="val 80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73352"/>
            <a:ext cx="3337560" cy="365760"/>
          </a:xfrm>
          <a:prstGeom prst="rect">
            <a:avLst/>
          </a:prstGeom>
          <a:noFill/>
        </p:spPr>
        <p:txBody>
          <a:bodyPr wrap="square" anchor="t" lIns="45720" rIns="45720">
            <a:spAutoFit/>
          </a:bodyPr>
          <a:lstStyle/>
          <a:p>
            <a:pPr algn="l">
              <a:spcAft>
                <a:spcPts val="600"/>
              </a:spcAft>
            </a:pPr>
            <a:r>
              <a:rPr sz="1500" b="1" i="0">
                <a:solidFill>
                  <a:srgbClr val="12466B"/>
                </a:solidFill>
                <a:latin typeface="Calibri"/>
              </a:rPr>
              <a:t>Arandia et al. 2016</a:t>
            </a:r>
          </a:p>
        </p:txBody>
      </p:sp>
      <p:sp>
        <p:nvSpPr>
          <p:cNvPr id="6" name="TextBox 5"/>
          <p:cNvSpPr txBox="1"/>
          <p:nvPr/>
        </p:nvSpPr>
        <p:spPr>
          <a:xfrm>
            <a:off x="685800" y="2057400"/>
            <a:ext cx="3337560" cy="868680"/>
          </a:xfrm>
          <a:prstGeom prst="rect">
            <a:avLst/>
          </a:prstGeom>
          <a:noFill/>
        </p:spPr>
        <p:txBody>
          <a:bodyPr wrap="square" anchor="t" lIns="45720" rIns="45720">
            <a:spAutoFit/>
          </a:bodyPr>
          <a:lstStyle/>
          <a:p>
            <a:pPr algn="l">
              <a:spcAft>
                <a:spcPts val="600"/>
              </a:spcAft>
            </a:pPr>
            <a:r>
              <a:rPr sz="1300" b="0" i="0">
                <a:solidFill>
                  <a:srgbClr val="1A1A1A"/>
                </a:solidFill>
                <a:latin typeface="Calibri"/>
              </a:rPr>
              <a:t>SARIMA + Kalman updating for water; weekly-seasonal removes more autocorrelation</a:t>
            </a:r>
          </a:p>
        </p:txBody>
      </p:sp>
      <p:sp>
        <p:nvSpPr>
          <p:cNvPr id="7" name="Rounded Rectangle 6"/>
          <p:cNvSpPr/>
          <p:nvPr/>
        </p:nvSpPr>
        <p:spPr>
          <a:xfrm>
            <a:off x="4297679" y="1600200"/>
            <a:ext cx="3611880" cy="1344168"/>
          </a:xfrm>
          <a:prstGeom prst="roundRect">
            <a:avLst>
              <a:gd name="adj" fmla="val 80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34840" y="1673352"/>
            <a:ext cx="3337560" cy="365760"/>
          </a:xfrm>
          <a:prstGeom prst="rect">
            <a:avLst/>
          </a:prstGeom>
          <a:noFill/>
        </p:spPr>
        <p:txBody>
          <a:bodyPr wrap="square" anchor="t" lIns="45720" rIns="45720">
            <a:spAutoFit/>
          </a:bodyPr>
          <a:lstStyle/>
          <a:p>
            <a:pPr algn="l">
              <a:spcAft>
                <a:spcPts val="600"/>
              </a:spcAft>
            </a:pPr>
            <a:r>
              <a:rPr sz="1500" b="1" i="0">
                <a:solidFill>
                  <a:srgbClr val="12466B"/>
                </a:solidFill>
                <a:latin typeface="Calibri"/>
              </a:rPr>
              <a:t>Taylor 2003</a:t>
            </a:r>
          </a:p>
        </p:txBody>
      </p:sp>
      <p:sp>
        <p:nvSpPr>
          <p:cNvPr id="9" name="TextBox 8"/>
          <p:cNvSpPr txBox="1"/>
          <p:nvPr/>
        </p:nvSpPr>
        <p:spPr>
          <a:xfrm>
            <a:off x="4434840" y="2057400"/>
            <a:ext cx="3337560" cy="868680"/>
          </a:xfrm>
          <a:prstGeom prst="rect">
            <a:avLst/>
          </a:prstGeom>
          <a:noFill/>
        </p:spPr>
        <p:txBody>
          <a:bodyPr wrap="square" anchor="t" lIns="45720" rIns="45720">
            <a:spAutoFit/>
          </a:bodyPr>
          <a:lstStyle/>
          <a:p>
            <a:pPr algn="l">
              <a:spcAft>
                <a:spcPts val="600"/>
              </a:spcAft>
            </a:pPr>
            <a:r>
              <a:rPr sz="1300" b="0" i="0">
                <a:solidFill>
                  <a:srgbClr val="1A1A1A"/>
                </a:solidFill>
                <a:latin typeface="Calibri"/>
              </a:rPr>
              <a:t>Double-seasonal (day + week) Holt-Winters beats single-seasonal for utility demand</a:t>
            </a:r>
          </a:p>
        </p:txBody>
      </p:sp>
      <p:sp>
        <p:nvSpPr>
          <p:cNvPr id="10" name="Rounded Rectangle 9"/>
          <p:cNvSpPr/>
          <p:nvPr/>
        </p:nvSpPr>
        <p:spPr>
          <a:xfrm>
            <a:off x="548640" y="3081528"/>
            <a:ext cx="3611880" cy="1344168"/>
          </a:xfrm>
          <a:prstGeom prst="roundRect">
            <a:avLst>
              <a:gd name="adj" fmla="val 80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154680"/>
            <a:ext cx="3337560" cy="365760"/>
          </a:xfrm>
          <a:prstGeom prst="rect">
            <a:avLst/>
          </a:prstGeom>
          <a:noFill/>
        </p:spPr>
        <p:txBody>
          <a:bodyPr wrap="square" anchor="t" lIns="45720" rIns="45720">
            <a:spAutoFit/>
          </a:bodyPr>
          <a:lstStyle/>
          <a:p>
            <a:pPr algn="l">
              <a:spcAft>
                <a:spcPts val="600"/>
              </a:spcAft>
            </a:pPr>
            <a:r>
              <a:rPr sz="1500" b="1" i="0">
                <a:solidFill>
                  <a:srgbClr val="12466B"/>
                </a:solidFill>
                <a:latin typeface="Calibri"/>
              </a:rPr>
              <a:t>Bandara et al. 2021</a:t>
            </a:r>
          </a:p>
        </p:txBody>
      </p:sp>
      <p:sp>
        <p:nvSpPr>
          <p:cNvPr id="12" name="TextBox 11"/>
          <p:cNvSpPr txBox="1"/>
          <p:nvPr/>
        </p:nvSpPr>
        <p:spPr>
          <a:xfrm>
            <a:off x="685800" y="3538728"/>
            <a:ext cx="3337560" cy="868680"/>
          </a:xfrm>
          <a:prstGeom prst="rect">
            <a:avLst/>
          </a:prstGeom>
          <a:noFill/>
        </p:spPr>
        <p:txBody>
          <a:bodyPr wrap="square" anchor="t" lIns="45720" rIns="45720">
            <a:spAutoFit/>
          </a:bodyPr>
          <a:lstStyle/>
          <a:p>
            <a:pPr algn="l">
              <a:spcAft>
                <a:spcPts val="600"/>
              </a:spcAft>
            </a:pPr>
            <a:r>
              <a:rPr sz="1300" b="0" i="0">
                <a:solidFill>
                  <a:srgbClr val="1A1A1A"/>
                </a:solidFill>
                <a:latin typeface="Calibri"/>
              </a:rPr>
              <a:t>MSTL: decomposition with several seasonal periods, low compute cost</a:t>
            </a:r>
          </a:p>
        </p:txBody>
      </p:sp>
      <p:sp>
        <p:nvSpPr>
          <p:cNvPr id="13" name="Rounded Rectangle 12"/>
          <p:cNvSpPr/>
          <p:nvPr/>
        </p:nvSpPr>
        <p:spPr>
          <a:xfrm>
            <a:off x="4297679" y="3081528"/>
            <a:ext cx="3611880" cy="1344168"/>
          </a:xfrm>
          <a:prstGeom prst="roundRect">
            <a:avLst>
              <a:gd name="adj" fmla="val 80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3154680"/>
            <a:ext cx="3337560" cy="365760"/>
          </a:xfrm>
          <a:prstGeom prst="rect">
            <a:avLst/>
          </a:prstGeom>
          <a:noFill/>
        </p:spPr>
        <p:txBody>
          <a:bodyPr wrap="square" anchor="t" lIns="45720" rIns="45720">
            <a:spAutoFit/>
          </a:bodyPr>
          <a:lstStyle/>
          <a:p>
            <a:pPr algn="l">
              <a:spcAft>
                <a:spcPts val="600"/>
              </a:spcAft>
            </a:pPr>
            <a:r>
              <a:rPr sz="1500" b="1" i="0">
                <a:solidFill>
                  <a:srgbClr val="12466B"/>
                </a:solidFill>
                <a:latin typeface="Calibri"/>
              </a:rPr>
              <a:t>Pacchin et al. 2019</a:t>
            </a:r>
          </a:p>
        </p:txBody>
      </p:sp>
      <p:sp>
        <p:nvSpPr>
          <p:cNvPr id="15" name="TextBox 14"/>
          <p:cNvSpPr txBox="1"/>
          <p:nvPr/>
        </p:nvSpPr>
        <p:spPr>
          <a:xfrm>
            <a:off x="4434840" y="3538728"/>
            <a:ext cx="3337560" cy="868680"/>
          </a:xfrm>
          <a:prstGeom prst="rect">
            <a:avLst/>
          </a:prstGeom>
          <a:noFill/>
        </p:spPr>
        <p:txBody>
          <a:bodyPr wrap="square" anchor="t" lIns="45720" rIns="45720">
            <a:spAutoFit/>
          </a:bodyPr>
          <a:lstStyle/>
          <a:p>
            <a:pPr algn="l">
              <a:spcAft>
                <a:spcPts val="600"/>
              </a:spcAft>
            </a:pPr>
            <a:r>
              <a:rPr sz="1300" b="0" i="0">
                <a:solidFill>
                  <a:srgbClr val="1A1A1A"/>
                </a:solidFill>
                <a:latin typeface="Calibri"/>
              </a:rPr>
              <a:t>24-h hourly water forecasts; moving-window pattern models most robust</a:t>
            </a:r>
          </a:p>
        </p:txBody>
      </p:sp>
      <p:sp>
        <p:nvSpPr>
          <p:cNvPr id="16" name="Rounded Rectangle 15"/>
          <p:cNvSpPr/>
          <p:nvPr/>
        </p:nvSpPr>
        <p:spPr>
          <a:xfrm>
            <a:off x="548640" y="4562856"/>
            <a:ext cx="3611880" cy="1344168"/>
          </a:xfrm>
          <a:prstGeom prst="roundRect">
            <a:avLst>
              <a:gd name="adj" fmla="val 80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636008"/>
            <a:ext cx="3337560" cy="365760"/>
          </a:xfrm>
          <a:prstGeom prst="rect">
            <a:avLst/>
          </a:prstGeom>
          <a:noFill/>
        </p:spPr>
        <p:txBody>
          <a:bodyPr wrap="square" anchor="t" lIns="45720" rIns="45720">
            <a:spAutoFit/>
          </a:bodyPr>
          <a:lstStyle/>
          <a:p>
            <a:pPr algn="l">
              <a:spcAft>
                <a:spcPts val="600"/>
              </a:spcAft>
            </a:pPr>
            <a:r>
              <a:rPr sz="1500" b="1" i="0">
                <a:solidFill>
                  <a:srgbClr val="12466B"/>
                </a:solidFill>
                <a:latin typeface="Calibri"/>
              </a:rPr>
              <a:t>Herrera et al. 2010</a:t>
            </a:r>
          </a:p>
        </p:txBody>
      </p:sp>
      <p:sp>
        <p:nvSpPr>
          <p:cNvPr id="18" name="TextBox 17"/>
          <p:cNvSpPr txBox="1"/>
          <p:nvPr/>
        </p:nvSpPr>
        <p:spPr>
          <a:xfrm>
            <a:off x="685800" y="5020056"/>
            <a:ext cx="3337560" cy="868680"/>
          </a:xfrm>
          <a:prstGeom prst="rect">
            <a:avLst/>
          </a:prstGeom>
          <a:noFill/>
        </p:spPr>
        <p:txBody>
          <a:bodyPr wrap="square" anchor="t" lIns="45720" rIns="45720">
            <a:spAutoFit/>
          </a:bodyPr>
          <a:lstStyle/>
          <a:p>
            <a:pPr algn="l">
              <a:spcAft>
                <a:spcPts val="600"/>
              </a:spcAft>
            </a:pPr>
            <a:r>
              <a:rPr sz="1300" b="0" i="0">
                <a:solidFill>
                  <a:srgbClr val="1A1A1A"/>
                </a:solidFill>
                <a:latin typeface="Calibri"/>
              </a:rPr>
              <a:t>ML models for hourly urban demand; demand profiles carry key information</a:t>
            </a:r>
          </a:p>
        </p:txBody>
      </p:sp>
      <p:sp>
        <p:nvSpPr>
          <p:cNvPr id="19" name="Rounded Rectangle 18"/>
          <p:cNvSpPr/>
          <p:nvPr/>
        </p:nvSpPr>
        <p:spPr>
          <a:xfrm>
            <a:off x="4297679" y="4562856"/>
            <a:ext cx="3611880" cy="1344168"/>
          </a:xfrm>
          <a:prstGeom prst="roundRect">
            <a:avLst>
              <a:gd name="adj" fmla="val 80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34840" y="4636008"/>
            <a:ext cx="3337560" cy="365760"/>
          </a:xfrm>
          <a:prstGeom prst="rect">
            <a:avLst/>
          </a:prstGeom>
          <a:noFill/>
        </p:spPr>
        <p:txBody>
          <a:bodyPr wrap="square" anchor="t" lIns="45720" rIns="45720">
            <a:spAutoFit/>
          </a:bodyPr>
          <a:lstStyle/>
          <a:p>
            <a:pPr algn="l">
              <a:spcAft>
                <a:spcPts val="600"/>
              </a:spcAft>
            </a:pPr>
            <a:r>
              <a:rPr sz="1500" b="1" i="0">
                <a:solidFill>
                  <a:srgbClr val="12466B"/>
                </a:solidFill>
                <a:latin typeface="Calibri"/>
              </a:rPr>
              <a:t>Weyrauch et al. 2024</a:t>
            </a:r>
          </a:p>
        </p:txBody>
      </p:sp>
      <p:sp>
        <p:nvSpPr>
          <p:cNvPr id="21" name="TextBox 20"/>
          <p:cNvSpPr txBox="1"/>
          <p:nvPr/>
        </p:nvSpPr>
        <p:spPr>
          <a:xfrm>
            <a:off x="4434840" y="5020056"/>
            <a:ext cx="3337560" cy="868680"/>
          </a:xfrm>
          <a:prstGeom prst="rect">
            <a:avLst/>
          </a:prstGeom>
          <a:noFill/>
        </p:spPr>
        <p:txBody>
          <a:bodyPr wrap="square" anchor="t" lIns="45720" rIns="45720">
            <a:spAutoFit/>
          </a:bodyPr>
          <a:lstStyle/>
          <a:p>
            <a:pPr algn="l">
              <a:spcAft>
                <a:spcPts val="600"/>
              </a:spcAft>
            </a:pPr>
            <a:r>
              <a:rPr sz="1300" b="0" i="0">
                <a:solidFill>
                  <a:srgbClr val="1A1A1A"/>
                </a:solidFill>
                <a:latin typeface="Calibri"/>
              </a:rPr>
              <a:t>Same dataset, deep learning: simple profile ≈ best model (MAPE 13.9 vs 13.8%)</a:t>
            </a:r>
          </a:p>
        </p:txBody>
      </p:sp>
      <p:sp>
        <p:nvSpPr>
          <p:cNvPr id="22" name="Rounded Rectangle 21"/>
          <p:cNvSpPr/>
          <p:nvPr/>
        </p:nvSpPr>
        <p:spPr>
          <a:xfrm>
            <a:off x="8183879" y="1600200"/>
            <a:ext cx="3474720" cy="4306824"/>
          </a:xfrm>
          <a:prstGeom prst="roundRect">
            <a:avLst>
              <a:gd name="adj" fmla="val 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66760" y="1737360"/>
            <a:ext cx="3108960" cy="457200"/>
          </a:xfrm>
          <a:prstGeom prst="rect">
            <a:avLst/>
          </a:prstGeom>
          <a:noFill/>
        </p:spPr>
        <p:txBody>
          <a:bodyPr wrap="square" anchor="t" lIns="45720" rIns="45720">
            <a:spAutoFit/>
          </a:bodyPr>
          <a:lstStyle/>
          <a:p>
            <a:pPr algn="l">
              <a:spcAft>
                <a:spcPts val="600"/>
              </a:spcAft>
            </a:pPr>
            <a:r>
              <a:rPr sz="2000" b="1" i="0">
                <a:solidFill>
                  <a:srgbClr val="FFFFFF"/>
                </a:solidFill>
                <a:latin typeface="Cambria"/>
              </a:rPr>
              <a:t>Gap we address</a:t>
            </a:r>
          </a:p>
        </p:txBody>
      </p:sp>
      <p:sp>
        <p:nvSpPr>
          <p:cNvPr id="24" name="TextBox 23"/>
          <p:cNvSpPr txBox="1"/>
          <p:nvPr/>
        </p:nvSpPr>
        <p:spPr>
          <a:xfrm>
            <a:off x="8366760" y="2286000"/>
            <a:ext cx="3108960" cy="3566160"/>
          </a:xfrm>
          <a:prstGeom prst="rect">
            <a:avLst/>
          </a:prstGeom>
          <a:noFill/>
        </p:spPr>
        <p:txBody>
          <a:bodyPr wrap="square" anchor="t" lIns="45720" rIns="45720">
            <a:spAutoFit/>
          </a:bodyPr>
          <a:lstStyle/>
          <a:p>
            <a:pPr algn="l">
              <a:spcAft>
                <a:spcPts val="600"/>
              </a:spcAft>
            </a:pPr>
            <a:r>
              <a:rPr sz="1400" b="0" i="0">
                <a:solidFill>
                  <a:srgbClr val="FFFFFF"/>
                </a:solidFill>
                <a:latin typeface="Calibri"/>
              </a:rPr>
              <a:t>For this dataset, no classical SARIMA baseline and no multi-seasonal statistical model is reported, and MAE/RMSE are not reported.</a:t>
            </a:r>
          </a:p>
          <a:p>
            <a:pPr algn="l">
              <a:spcAft>
                <a:spcPts val="600"/>
              </a:spcAft>
            </a:pPr>
            <a:r>
              <a:rPr sz="1400" b="0" i="0">
                <a:solidFill>
                  <a:srgbClr val="FFFFFF"/>
                </a:solidFill>
                <a:latin typeface="Calibri"/>
              </a:rPr>
              <a:t>We test MSTL (24 h + 168 h) + ARIMA against a tuned SARIMA(s = 24) under a leakage-free day-ahead protocol, and isolate the weekly part with an ablation.</a:t>
            </a:r>
          </a:p>
        </p:txBody>
      </p:sp>
      <p:sp>
        <p:nvSpPr>
          <p:cNvPr id="25" name="TextBox 24"/>
          <p:cNvSpPr txBox="1"/>
          <p:nvPr/>
        </p:nvSpPr>
        <p:spPr>
          <a:xfrm>
            <a:off x="548640" y="6400800"/>
            <a:ext cx="8229600" cy="320040"/>
          </a:xfrm>
          <a:prstGeom prst="rect">
            <a:avLst/>
          </a:prstGeom>
          <a:noFill/>
        </p:spPr>
        <p:txBody>
          <a:bodyPr wrap="square" anchor="t" lIns="45720" rIns="45720">
            <a:spAutoFit/>
          </a:bodyPr>
          <a:lstStyle/>
          <a:p>
            <a:pPr algn="l">
              <a:spcAft>
                <a:spcPts val="600"/>
              </a:spcAft>
            </a:pPr>
            <a:r>
              <a:rPr sz="1000" b="0" i="0">
                <a:solidFill>
                  <a:srgbClr val="555B63"/>
                </a:solidFill>
                <a:latin typeface="Calibri"/>
              </a:rPr>
              <a:t>Hourly Urban Water Demand Forecasting · Time Series Analysis (24AM7PCTSA)</a:t>
            </a:r>
          </a:p>
        </p:txBody>
      </p:sp>
      <p:sp>
        <p:nvSpPr>
          <p:cNvPr id="26" name="TextBox 25"/>
          <p:cNvSpPr txBox="1"/>
          <p:nvPr/>
        </p:nvSpPr>
        <p:spPr>
          <a:xfrm>
            <a:off x="10911535" y="6400800"/>
            <a:ext cx="731520" cy="320040"/>
          </a:xfrm>
          <a:prstGeom prst="rect">
            <a:avLst/>
          </a:prstGeom>
          <a:noFill/>
        </p:spPr>
        <p:txBody>
          <a:bodyPr wrap="square" anchor="t" lIns="45720" rIns="45720">
            <a:spAutoFit/>
          </a:bodyPr>
          <a:lstStyle/>
          <a:p>
            <a:pPr algn="r">
              <a:spcAft>
                <a:spcPts val="600"/>
              </a:spcAft>
            </a:pPr>
            <a:r>
              <a:rPr sz="1000" b="0" i="0">
                <a:solidFill>
                  <a:srgbClr val="555B63"/>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lIns="45720" rIns="45720">
            <a:spAutoFit/>
          </a:bodyPr>
          <a:lstStyle/>
          <a:p>
            <a:pPr algn="l">
              <a:spcAft>
                <a:spcPts val="600"/>
              </a:spcAft>
            </a:pPr>
            <a:r>
              <a:rPr sz="3400" b="1" i="0">
                <a:solidFill>
                  <a:srgbClr val="0B2E4A"/>
                </a:solidFill>
                <a:latin typeface="Cambria"/>
              </a:rPr>
              <a:t>Preprocessing and experimental protocol</a:t>
            </a:r>
          </a:p>
        </p:txBody>
      </p:sp>
      <p:sp>
        <p:nvSpPr>
          <p:cNvPr id="3" name="TextBox 2"/>
          <p:cNvSpPr txBox="1"/>
          <p:nvPr/>
        </p:nvSpPr>
        <p:spPr>
          <a:xfrm>
            <a:off x="548640" y="987552"/>
            <a:ext cx="11094415" cy="411480"/>
          </a:xfrm>
          <a:prstGeom prst="rect">
            <a:avLst/>
          </a:prstGeom>
          <a:noFill/>
        </p:spPr>
        <p:txBody>
          <a:bodyPr wrap="square" anchor="t" lIns="45720" rIns="45720">
            <a:spAutoFit/>
          </a:bodyPr>
          <a:lstStyle/>
          <a:p>
            <a:pPr algn="l">
              <a:spcAft>
                <a:spcPts val="600"/>
              </a:spcAft>
            </a:pPr>
            <a:r>
              <a:rPr sz="1600" b="0" i="0">
                <a:solidFill>
                  <a:srgbClr val="555B63"/>
                </a:solidFill>
                <a:latin typeface="Calibri"/>
              </a:rPr>
              <a:t>No shuffling · no test data in any fitting or tuning step</a:t>
            </a:r>
          </a:p>
        </p:txBody>
      </p:sp>
      <p:sp>
        <p:nvSpPr>
          <p:cNvPr id="4" name="Rounded Rectangle 3"/>
          <p:cNvSpPr/>
          <p:nvPr/>
        </p:nvSpPr>
        <p:spPr>
          <a:xfrm>
            <a:off x="548640" y="1645920"/>
            <a:ext cx="6309360" cy="1234440"/>
          </a:xfrm>
          <a:prstGeom prst="roundRect">
            <a:avLst>
              <a:gd name="adj" fmla="val 8000"/>
            </a:avLst>
          </a:prstGeom>
          <a:solidFill>
            <a:srgbClr val="124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19072"/>
            <a:ext cx="6035040" cy="411480"/>
          </a:xfrm>
          <a:prstGeom prst="rect">
            <a:avLst/>
          </a:prstGeom>
          <a:noFill/>
        </p:spPr>
        <p:txBody>
          <a:bodyPr wrap="square" anchor="t" lIns="45720" rIns="45720">
            <a:spAutoFit/>
          </a:bodyPr>
          <a:lstStyle/>
          <a:p>
            <a:pPr algn="l">
              <a:spcAft>
                <a:spcPts val="600"/>
              </a:spcAft>
            </a:pPr>
            <a:r>
              <a:rPr sz="1600" b="1" i="0">
                <a:solidFill>
                  <a:srgbClr val="FFFFFF"/>
                </a:solidFill>
                <a:latin typeface="Calibri"/>
              </a:rPr>
              <a:t>TRAIN</a:t>
            </a:r>
          </a:p>
        </p:txBody>
      </p:sp>
      <p:sp>
        <p:nvSpPr>
          <p:cNvPr id="6" name="TextBox 5"/>
          <p:cNvSpPr txBox="1"/>
          <p:nvPr/>
        </p:nvSpPr>
        <p:spPr>
          <a:xfrm>
            <a:off x="685800" y="2121408"/>
            <a:ext cx="6035040" cy="731520"/>
          </a:xfrm>
          <a:prstGeom prst="rect">
            <a:avLst/>
          </a:prstGeom>
          <a:noFill/>
        </p:spPr>
        <p:txBody>
          <a:bodyPr wrap="square" anchor="t" lIns="45720" rIns="45720">
            <a:spAutoFit/>
          </a:bodyPr>
          <a:lstStyle/>
          <a:p>
            <a:pPr algn="l">
              <a:spcAft>
                <a:spcPts val="600"/>
              </a:spcAft>
            </a:pPr>
            <a:r>
              <a:rPr sz="1300" b="0" i="0">
                <a:solidFill>
                  <a:srgbClr val="FFFFFF"/>
                </a:solidFill>
                <a:latin typeface="Calibri"/>
              </a:rPr>
              <a:t>2016-01-01 → 2019-09-03
32,208 h</a:t>
            </a:r>
          </a:p>
        </p:txBody>
      </p:sp>
      <p:sp>
        <p:nvSpPr>
          <p:cNvPr id="7" name="Rounded Rectangle 6"/>
          <p:cNvSpPr/>
          <p:nvPr/>
        </p:nvSpPr>
        <p:spPr>
          <a:xfrm>
            <a:off x="6949440" y="1645920"/>
            <a:ext cx="2377440" cy="123444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86600" y="1719072"/>
            <a:ext cx="2103120" cy="411480"/>
          </a:xfrm>
          <a:prstGeom prst="rect">
            <a:avLst/>
          </a:prstGeom>
          <a:noFill/>
        </p:spPr>
        <p:txBody>
          <a:bodyPr wrap="square" anchor="t" lIns="45720" rIns="45720">
            <a:spAutoFit/>
          </a:bodyPr>
          <a:lstStyle/>
          <a:p>
            <a:pPr algn="l">
              <a:spcAft>
                <a:spcPts val="600"/>
              </a:spcAft>
            </a:pPr>
            <a:r>
              <a:rPr sz="1600" b="1" i="0">
                <a:solidFill>
                  <a:srgbClr val="FFFFFF"/>
                </a:solidFill>
                <a:latin typeface="Calibri"/>
              </a:rPr>
              <a:t>VALIDATION</a:t>
            </a:r>
          </a:p>
        </p:txBody>
      </p:sp>
      <p:sp>
        <p:nvSpPr>
          <p:cNvPr id="9" name="TextBox 8"/>
          <p:cNvSpPr txBox="1"/>
          <p:nvPr/>
        </p:nvSpPr>
        <p:spPr>
          <a:xfrm>
            <a:off x="7086600" y="2121408"/>
            <a:ext cx="2103120" cy="731520"/>
          </a:xfrm>
          <a:prstGeom prst="rect">
            <a:avLst/>
          </a:prstGeom>
          <a:noFill/>
        </p:spPr>
        <p:txBody>
          <a:bodyPr wrap="square" anchor="t" lIns="45720" rIns="45720">
            <a:spAutoFit/>
          </a:bodyPr>
          <a:lstStyle/>
          <a:p>
            <a:pPr algn="l">
              <a:spcAft>
                <a:spcPts val="600"/>
              </a:spcAft>
            </a:pPr>
            <a:r>
              <a:rPr sz="1300" b="0" i="0">
                <a:solidFill>
                  <a:srgbClr val="FFFFFF"/>
                </a:solidFill>
                <a:latin typeface="Calibri"/>
              </a:rPr>
              <a:t>2019-09-04 → 2020-06-17
6,912 h</a:t>
            </a:r>
          </a:p>
        </p:txBody>
      </p:sp>
      <p:sp>
        <p:nvSpPr>
          <p:cNvPr id="10" name="Rounded Rectangle 9"/>
          <p:cNvSpPr/>
          <p:nvPr/>
        </p:nvSpPr>
        <p:spPr>
          <a:xfrm>
            <a:off x="9418320" y="1645920"/>
            <a:ext cx="2377440" cy="123444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55480" y="1719072"/>
            <a:ext cx="2103120" cy="411480"/>
          </a:xfrm>
          <a:prstGeom prst="rect">
            <a:avLst/>
          </a:prstGeom>
          <a:noFill/>
        </p:spPr>
        <p:txBody>
          <a:bodyPr wrap="square" anchor="t" lIns="45720" rIns="45720">
            <a:spAutoFit/>
          </a:bodyPr>
          <a:lstStyle/>
          <a:p>
            <a:pPr algn="l">
              <a:spcAft>
                <a:spcPts val="600"/>
              </a:spcAft>
            </a:pPr>
            <a:r>
              <a:rPr sz="1600" b="1" i="0">
                <a:solidFill>
                  <a:srgbClr val="FFFFFF"/>
                </a:solidFill>
                <a:latin typeface="Calibri"/>
              </a:rPr>
              <a:t>TEST</a:t>
            </a:r>
          </a:p>
        </p:txBody>
      </p:sp>
      <p:sp>
        <p:nvSpPr>
          <p:cNvPr id="12" name="TextBox 11"/>
          <p:cNvSpPr txBox="1"/>
          <p:nvPr/>
        </p:nvSpPr>
        <p:spPr>
          <a:xfrm>
            <a:off x="9555480" y="2121408"/>
            <a:ext cx="2103120" cy="731520"/>
          </a:xfrm>
          <a:prstGeom prst="rect">
            <a:avLst/>
          </a:prstGeom>
          <a:noFill/>
        </p:spPr>
        <p:txBody>
          <a:bodyPr wrap="square" anchor="t" lIns="45720" rIns="45720">
            <a:spAutoFit/>
          </a:bodyPr>
          <a:lstStyle/>
          <a:p>
            <a:pPr algn="l">
              <a:spcAft>
                <a:spcPts val="600"/>
              </a:spcAft>
            </a:pPr>
            <a:r>
              <a:rPr sz="1300" b="0" i="0">
                <a:solidFill>
                  <a:srgbClr val="FFFFFF"/>
                </a:solidFill>
                <a:latin typeface="Calibri"/>
              </a:rPr>
              <a:t>2020-06-18 → 2021-04-01
6,912 h</a:t>
            </a:r>
          </a:p>
        </p:txBody>
      </p:sp>
      <p:sp>
        <p:nvSpPr>
          <p:cNvPr id="13" name="TextBox 12"/>
          <p:cNvSpPr txBox="1"/>
          <p:nvPr/>
        </p:nvSpPr>
        <p:spPr>
          <a:xfrm>
            <a:off x="548640" y="3200400"/>
            <a:ext cx="5486400" cy="3017520"/>
          </a:xfrm>
          <a:prstGeom prst="rect">
            <a:avLst/>
          </a:prstGeom>
          <a:noFill/>
        </p:spPr>
        <p:txBody>
          <a:bodyPr wrap="square">
            <a:spAutoFit/>
          </a:bodyPr>
          <a:lstStyle/>
          <a:p>
            <a:pPr>
              <a:spcAft>
                <a:spcPts val="800"/>
              </a:spcAft>
            </a:pPr>
            <a:r>
              <a:rPr sz="1500" b="1">
                <a:solidFill>
                  <a:srgbClr val="1A1A1A"/>
                </a:solidFill>
                <a:latin typeface="Calibri"/>
              </a:rPr>
              <a:t>•  Rolling day-ahead: </a:t>
            </a:r>
            <a:r>
              <a:rPr sz="1500" b="0">
                <a:solidFill>
                  <a:srgbClr val="1A1A1A"/>
                </a:solidFill>
                <a:latin typeface="Calibri"/>
              </a:rPr>
              <a:t>origin 00:00, uses data ≤ 23:00 previous day, outputs 24 h</a:t>
            </a:r>
          </a:p>
          <a:p>
            <a:pPr>
              <a:spcAft>
                <a:spcPts val="800"/>
              </a:spcAft>
            </a:pPr>
            <a:r>
              <a:rPr sz="1500" b="1">
                <a:solidFill>
                  <a:srgbClr val="1A1A1A"/>
                </a:solidFill>
                <a:latin typeface="Calibri"/>
              </a:rPr>
              <a:t>•  288 origins </a:t>
            </a:r>
            <a:r>
              <a:rPr sz="1500" b="0">
                <a:solidFill>
                  <a:srgbClr val="1A1A1A"/>
                </a:solidFill>
                <a:latin typeface="Calibri"/>
              </a:rPr>
              <a:t>in validation and in test → 6,912 forecasts each</a:t>
            </a:r>
          </a:p>
          <a:p>
            <a:pPr>
              <a:spcAft>
                <a:spcPts val="800"/>
              </a:spcAft>
            </a:pPr>
            <a:r>
              <a:rPr sz="1500" b="1">
                <a:solidFill>
                  <a:srgbClr val="1A1A1A"/>
                </a:solidFill>
                <a:latin typeface="Calibri"/>
              </a:rPr>
              <a:t>•  Same rule for both models: </a:t>
            </a:r>
            <a:r>
              <a:rPr sz="1500" b="0">
                <a:solidFill>
                  <a:srgbClr val="1A1A1A"/>
                </a:solidFill>
                <a:latin typeface="Calibri"/>
              </a:rPr>
              <a:t>lowest validation MAE; test touched once</a:t>
            </a:r>
          </a:p>
        </p:txBody>
      </p:sp>
      <p:sp>
        <p:nvSpPr>
          <p:cNvPr id="14" name="TextBox 13"/>
          <p:cNvSpPr txBox="1"/>
          <p:nvPr/>
        </p:nvSpPr>
        <p:spPr>
          <a:xfrm>
            <a:off x="6309360" y="3200400"/>
            <a:ext cx="5394960" cy="3017520"/>
          </a:xfrm>
          <a:prstGeom prst="rect">
            <a:avLst/>
          </a:prstGeom>
          <a:noFill/>
        </p:spPr>
        <p:txBody>
          <a:bodyPr wrap="square">
            <a:spAutoFit/>
          </a:bodyPr>
          <a:lstStyle/>
          <a:p>
            <a:pPr>
              <a:spcAft>
                <a:spcPts val="800"/>
              </a:spcAft>
            </a:pPr>
            <a:r>
              <a:rPr sz="1500" b="1">
                <a:solidFill>
                  <a:srgbClr val="1A1A1A"/>
                </a:solidFill>
                <a:latin typeface="Calibri"/>
              </a:rPr>
              <a:t>•  Regular hourly grid: </a:t>
            </a:r>
            <a:r>
              <a:rPr sz="1500" b="0">
                <a:solidFill>
                  <a:srgbClr val="1A1A1A"/>
                </a:solidFill>
                <a:latin typeface="Calibri"/>
              </a:rPr>
              <a:t>DST days fixed, timestamps unique and gap-free</a:t>
            </a:r>
          </a:p>
          <a:p>
            <a:pPr>
              <a:spcAft>
                <a:spcPts val="800"/>
              </a:spcAft>
            </a:pPr>
            <a:r>
              <a:rPr sz="1500" b="1">
                <a:solidFill>
                  <a:srgbClr val="1A1A1A"/>
                </a:solidFill>
                <a:latin typeface="Calibri"/>
              </a:rPr>
              <a:t>•  Publisher fills flagged, </a:t>
            </a:r>
            <a:r>
              <a:rPr sz="1500" b="0">
                <a:solidFill>
                  <a:srgbClr val="1A1A1A"/>
                </a:solidFill>
                <a:latin typeface="Calibri"/>
              </a:rPr>
              <a:t>metrics re-checked without them</a:t>
            </a:r>
          </a:p>
          <a:p>
            <a:pPr>
              <a:spcAft>
                <a:spcPts val="800"/>
              </a:spcAft>
            </a:pPr>
            <a:r>
              <a:rPr sz="1500" b="1">
                <a:solidFill>
                  <a:srgbClr val="1A1A1A"/>
                </a:solidFill>
                <a:latin typeface="Calibri"/>
              </a:rPr>
              <a:t>•  Peaks kept: </a:t>
            </a:r>
            <a:r>
              <a:rPr sz="1500" b="0">
                <a:solidFill>
                  <a:srgbClr val="1A1A1A"/>
                </a:solidFill>
                <a:latin typeface="Calibri"/>
              </a:rPr>
              <a:t>night lows and summer peaks are real behaviour</a:t>
            </a:r>
          </a:p>
          <a:p>
            <a:pPr>
              <a:spcAft>
                <a:spcPts val="800"/>
              </a:spcAft>
            </a:pPr>
            <a:r>
              <a:rPr sz="1500" b="1">
                <a:solidFill>
                  <a:srgbClr val="1A1A1A"/>
                </a:solidFill>
                <a:latin typeface="Calibri"/>
              </a:rPr>
              <a:t>•  Weather excluded: </a:t>
            </a:r>
            <a:r>
              <a:rPr sz="1500" b="0">
                <a:solidFill>
                  <a:srgbClr val="1A1A1A"/>
                </a:solidFill>
                <a:latin typeface="Calibri"/>
              </a:rPr>
              <a:t>not known at forecast time (leakage)</a:t>
            </a:r>
          </a:p>
        </p:txBody>
      </p:sp>
      <p:sp>
        <p:nvSpPr>
          <p:cNvPr id="15" name="TextBox 14"/>
          <p:cNvSpPr txBox="1"/>
          <p:nvPr/>
        </p:nvSpPr>
        <p:spPr>
          <a:xfrm>
            <a:off x="548640" y="6400800"/>
            <a:ext cx="8229600" cy="320040"/>
          </a:xfrm>
          <a:prstGeom prst="rect">
            <a:avLst/>
          </a:prstGeom>
          <a:noFill/>
        </p:spPr>
        <p:txBody>
          <a:bodyPr wrap="square" anchor="t" lIns="45720" rIns="45720">
            <a:spAutoFit/>
          </a:bodyPr>
          <a:lstStyle/>
          <a:p>
            <a:pPr algn="l">
              <a:spcAft>
                <a:spcPts val="600"/>
              </a:spcAft>
            </a:pPr>
            <a:r>
              <a:rPr sz="1000" b="0" i="0">
                <a:solidFill>
                  <a:srgbClr val="555B63"/>
                </a:solidFill>
                <a:latin typeface="Calibri"/>
              </a:rPr>
              <a:t>Hourly Urban Water Demand Forecasting · Time Series Analysis (24AM7PCTSA)</a:t>
            </a:r>
          </a:p>
        </p:txBody>
      </p:sp>
      <p:sp>
        <p:nvSpPr>
          <p:cNvPr id="16" name="TextBox 15"/>
          <p:cNvSpPr txBox="1"/>
          <p:nvPr/>
        </p:nvSpPr>
        <p:spPr>
          <a:xfrm>
            <a:off x="10911535" y="6400800"/>
            <a:ext cx="731520" cy="320040"/>
          </a:xfrm>
          <a:prstGeom prst="rect">
            <a:avLst/>
          </a:prstGeom>
          <a:noFill/>
        </p:spPr>
        <p:txBody>
          <a:bodyPr wrap="square" anchor="t" lIns="45720" rIns="45720">
            <a:spAutoFit/>
          </a:bodyPr>
          <a:lstStyle/>
          <a:p>
            <a:pPr algn="r">
              <a:spcAft>
                <a:spcPts val="600"/>
              </a:spcAft>
            </a:pPr>
            <a:r>
              <a:rPr sz="1000" b="0" i="0">
                <a:solidFill>
                  <a:srgbClr val="555B63"/>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lIns="45720" rIns="45720">
            <a:spAutoFit/>
          </a:bodyPr>
          <a:lstStyle/>
          <a:p>
            <a:pPr algn="l">
              <a:spcAft>
                <a:spcPts val="600"/>
              </a:spcAft>
            </a:pPr>
            <a:r>
              <a:rPr sz="3400" b="1" i="0">
                <a:solidFill>
                  <a:srgbClr val="0B2E4A"/>
                </a:solidFill>
                <a:latin typeface="Cambria"/>
              </a:rPr>
              <a:t>EDA: daily cycle + weekly change in day shape</a:t>
            </a:r>
          </a:p>
        </p:txBody>
      </p:sp>
      <p:pic>
        <p:nvPicPr>
          <p:cNvPr id="3" name="Picture 2" descr="fig03_seasonal_profiles.png"/>
          <p:cNvPicPr>
            <a:picLocks noChangeAspect="1"/>
          </p:cNvPicPr>
          <p:nvPr/>
        </p:nvPicPr>
        <p:blipFill>
          <a:blip r:embed="rId3"/>
          <a:stretch>
            <a:fillRect/>
          </a:stretch>
        </p:blipFill>
        <p:spPr>
          <a:xfrm>
            <a:off x="548640" y="1280160"/>
            <a:ext cx="8046720" cy="2857038"/>
          </a:xfrm>
          <a:prstGeom prst="rect">
            <a:avLst/>
          </a:prstGeom>
        </p:spPr>
      </p:pic>
      <p:sp>
        <p:nvSpPr>
          <p:cNvPr id="4" name="Rounded Rectangle 3"/>
          <p:cNvSpPr/>
          <p:nvPr/>
        </p:nvSpPr>
        <p:spPr>
          <a:xfrm>
            <a:off x="8915400" y="1325880"/>
            <a:ext cx="2743200" cy="1417320"/>
          </a:xfrm>
          <a:prstGeom prst="roundRect">
            <a:avLst>
              <a:gd name="adj" fmla="val 80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052560" y="1435607"/>
            <a:ext cx="2468880" cy="731520"/>
          </a:xfrm>
          <a:prstGeom prst="rect">
            <a:avLst/>
          </a:prstGeom>
          <a:noFill/>
        </p:spPr>
        <p:txBody>
          <a:bodyPr wrap="square" anchor="t" lIns="45720" rIns="45720">
            <a:spAutoFit/>
          </a:bodyPr>
          <a:lstStyle/>
          <a:p>
            <a:pPr algn="l">
              <a:spcAft>
                <a:spcPts val="600"/>
              </a:spcAft>
            </a:pPr>
            <a:r>
              <a:rPr sz="4000" b="1" i="0">
                <a:solidFill>
                  <a:srgbClr val="2A78D6"/>
                </a:solidFill>
                <a:latin typeface="Cambria"/>
              </a:rPr>
              <a:t>0.96</a:t>
            </a:r>
          </a:p>
        </p:txBody>
      </p:sp>
      <p:sp>
        <p:nvSpPr>
          <p:cNvPr id="6" name="TextBox 5"/>
          <p:cNvSpPr txBox="1"/>
          <p:nvPr/>
        </p:nvSpPr>
        <p:spPr>
          <a:xfrm>
            <a:off x="9052560" y="2167128"/>
            <a:ext cx="2468880" cy="548640"/>
          </a:xfrm>
          <a:prstGeom prst="rect">
            <a:avLst/>
          </a:prstGeom>
          <a:noFill/>
        </p:spPr>
        <p:txBody>
          <a:bodyPr wrap="square" anchor="t" lIns="45720" rIns="45720">
            <a:spAutoFit/>
          </a:bodyPr>
          <a:lstStyle/>
          <a:p>
            <a:pPr algn="l">
              <a:spcAft>
                <a:spcPts val="600"/>
              </a:spcAft>
            </a:pPr>
            <a:r>
              <a:rPr sz="1300" b="0" i="0">
                <a:solidFill>
                  <a:srgbClr val="555B63"/>
                </a:solidFill>
                <a:latin typeface="Calibri"/>
              </a:rPr>
              <a:t>MSTL seasonal strength, 24 h</a:t>
            </a:r>
          </a:p>
        </p:txBody>
      </p:sp>
      <p:sp>
        <p:nvSpPr>
          <p:cNvPr id="7" name="Rounded Rectangle 6"/>
          <p:cNvSpPr/>
          <p:nvPr/>
        </p:nvSpPr>
        <p:spPr>
          <a:xfrm>
            <a:off x="8915400" y="2880360"/>
            <a:ext cx="2743200" cy="1417320"/>
          </a:xfrm>
          <a:prstGeom prst="roundRect">
            <a:avLst>
              <a:gd name="adj" fmla="val 80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0" y="2990088"/>
            <a:ext cx="2468880" cy="731520"/>
          </a:xfrm>
          <a:prstGeom prst="rect">
            <a:avLst/>
          </a:prstGeom>
          <a:noFill/>
        </p:spPr>
        <p:txBody>
          <a:bodyPr wrap="square" anchor="t" lIns="45720" rIns="45720">
            <a:spAutoFit/>
          </a:bodyPr>
          <a:lstStyle/>
          <a:p>
            <a:pPr algn="l">
              <a:spcAft>
                <a:spcPts val="600"/>
              </a:spcAft>
            </a:pPr>
            <a:r>
              <a:rPr sz="4000" b="1" i="0">
                <a:solidFill>
                  <a:srgbClr val="EB6834"/>
                </a:solidFill>
                <a:latin typeface="Cambria"/>
              </a:rPr>
              <a:t>0.67</a:t>
            </a:r>
          </a:p>
        </p:txBody>
      </p:sp>
      <p:sp>
        <p:nvSpPr>
          <p:cNvPr id="9" name="TextBox 8"/>
          <p:cNvSpPr txBox="1"/>
          <p:nvPr/>
        </p:nvSpPr>
        <p:spPr>
          <a:xfrm>
            <a:off x="9052560" y="3721608"/>
            <a:ext cx="2468880" cy="548640"/>
          </a:xfrm>
          <a:prstGeom prst="rect">
            <a:avLst/>
          </a:prstGeom>
          <a:noFill/>
        </p:spPr>
        <p:txBody>
          <a:bodyPr wrap="square" anchor="t" lIns="45720" rIns="45720">
            <a:spAutoFit/>
          </a:bodyPr>
          <a:lstStyle/>
          <a:p>
            <a:pPr algn="l">
              <a:spcAft>
                <a:spcPts val="600"/>
              </a:spcAft>
            </a:pPr>
            <a:r>
              <a:rPr sz="1300" b="0" i="0">
                <a:solidFill>
                  <a:srgbClr val="555B63"/>
                </a:solidFill>
                <a:latin typeface="Calibri"/>
              </a:rPr>
              <a:t>MSTL seasonal strength, 168 h</a:t>
            </a:r>
          </a:p>
        </p:txBody>
      </p:sp>
      <p:sp>
        <p:nvSpPr>
          <p:cNvPr id="10" name="TextBox 9"/>
          <p:cNvSpPr txBox="1"/>
          <p:nvPr/>
        </p:nvSpPr>
        <p:spPr>
          <a:xfrm>
            <a:off x="548640" y="4572000"/>
            <a:ext cx="11155680" cy="1645920"/>
          </a:xfrm>
          <a:prstGeom prst="rect">
            <a:avLst/>
          </a:prstGeom>
          <a:noFill/>
        </p:spPr>
        <p:txBody>
          <a:bodyPr wrap="square" anchor="t" lIns="45720" rIns="45720">
            <a:spAutoFit/>
          </a:bodyPr>
          <a:lstStyle/>
          <a:p>
            <a:pPr algn="l">
              <a:spcAft>
                <a:spcPts val="600"/>
              </a:spcAft>
            </a:pPr>
            <a:r>
              <a:rPr sz="1500" b="1" i="0">
                <a:solidFill>
                  <a:srgbClr val="1A1A1A"/>
                </a:solidFill>
                <a:latin typeface="Calibri"/>
              </a:rPr>
              <a:t>Trend: </a:t>
            </a:r>
            <a:r>
              <a:rPr sz="1500" b="0" i="0">
                <a:solidFill>
                  <a:srgbClr val="1A1A1A"/>
                </a:solidFill>
                <a:latin typeface="Calibri"/>
              </a:rPr>
              <a:t>annual mean rose from 2097 (2016) to 2534 m³/h (2020); summers bring higher, weather-driven evening peaks.</a:t>
            </a:r>
          </a:p>
          <a:p>
            <a:pPr algn="l">
              <a:spcAft>
                <a:spcPts val="600"/>
              </a:spcAft>
            </a:pPr>
            <a:r>
              <a:rPr sz="1500" b="1" i="0">
                <a:solidFill>
                  <a:srgbClr val="1A1A1A"/>
                </a:solidFill>
                <a:latin typeface="Calibri"/>
              </a:rPr>
              <a:t>Weekly effect = shape, not level: </a:t>
            </a:r>
            <a:r>
              <a:rPr sz="1500" b="0" i="0">
                <a:solidFill>
                  <a:srgbClr val="1A1A1A"/>
                </a:solidFill>
                <a:latin typeface="Calibri"/>
              </a:rPr>
              <a:t>weekend mean is only 5.4% lower, but the morning ramp moves by ~2 hours.</a:t>
            </a:r>
          </a:p>
        </p:txBody>
      </p:sp>
      <p:sp>
        <p:nvSpPr>
          <p:cNvPr id="11" name="TextBox 10"/>
          <p:cNvSpPr txBox="1"/>
          <p:nvPr/>
        </p:nvSpPr>
        <p:spPr>
          <a:xfrm>
            <a:off x="548640" y="6400800"/>
            <a:ext cx="8229600" cy="320040"/>
          </a:xfrm>
          <a:prstGeom prst="rect">
            <a:avLst/>
          </a:prstGeom>
          <a:noFill/>
        </p:spPr>
        <p:txBody>
          <a:bodyPr wrap="square" anchor="t" lIns="45720" rIns="45720">
            <a:spAutoFit/>
          </a:bodyPr>
          <a:lstStyle/>
          <a:p>
            <a:pPr algn="l">
              <a:spcAft>
                <a:spcPts val="600"/>
              </a:spcAft>
            </a:pPr>
            <a:r>
              <a:rPr sz="1000" b="0" i="0">
                <a:solidFill>
                  <a:srgbClr val="555B63"/>
                </a:solidFill>
                <a:latin typeface="Calibri"/>
              </a:rPr>
              <a:t>Hourly Urban Water Demand Forecasting · Time Series Analysis (24AM7PCTSA)</a:t>
            </a:r>
          </a:p>
        </p:txBody>
      </p:sp>
      <p:sp>
        <p:nvSpPr>
          <p:cNvPr id="12" name="TextBox 11"/>
          <p:cNvSpPr txBox="1"/>
          <p:nvPr/>
        </p:nvSpPr>
        <p:spPr>
          <a:xfrm>
            <a:off x="10911535" y="6400800"/>
            <a:ext cx="731520" cy="320040"/>
          </a:xfrm>
          <a:prstGeom prst="rect">
            <a:avLst/>
          </a:prstGeom>
          <a:noFill/>
        </p:spPr>
        <p:txBody>
          <a:bodyPr wrap="square" anchor="t" lIns="45720" rIns="45720">
            <a:spAutoFit/>
          </a:bodyPr>
          <a:lstStyle/>
          <a:p>
            <a:pPr algn="r">
              <a:spcAft>
                <a:spcPts val="600"/>
              </a:spcAft>
            </a:pPr>
            <a:r>
              <a:rPr sz="1000" b="0" i="0">
                <a:solidFill>
                  <a:srgbClr val="555B63"/>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lIns="45720" rIns="45720">
            <a:spAutoFit/>
          </a:bodyPr>
          <a:lstStyle/>
          <a:p>
            <a:pPr algn="l">
              <a:spcAft>
                <a:spcPts val="600"/>
              </a:spcAft>
            </a:pPr>
            <a:r>
              <a:rPr sz="3400" b="1" i="0">
                <a:solidFill>
                  <a:srgbClr val="0B2E4A"/>
                </a:solidFill>
                <a:latin typeface="Cambria"/>
              </a:rPr>
              <a:t>Stationarity and ACF/PACF reveal the gap</a:t>
            </a:r>
          </a:p>
        </p:txBody>
      </p:sp>
      <p:pic>
        <p:nvPicPr>
          <p:cNvPr id="3" name="Picture 2" descr="fig07_acf_pacf.png"/>
          <p:cNvPicPr>
            <a:picLocks noChangeAspect="1"/>
          </p:cNvPicPr>
          <p:nvPr/>
        </p:nvPicPr>
        <p:blipFill>
          <a:blip r:embed="rId3"/>
          <a:stretch>
            <a:fillRect/>
          </a:stretch>
        </p:blipFill>
        <p:spPr>
          <a:xfrm>
            <a:off x="548640" y="1371600"/>
            <a:ext cx="7315200" cy="4036238"/>
          </a:xfrm>
          <a:prstGeom prst="rect">
            <a:avLst/>
          </a:prstGeom>
        </p:spPr>
      </p:pic>
      <p:sp>
        <p:nvSpPr>
          <p:cNvPr id="4" name="Rounded Rectangle 3"/>
          <p:cNvSpPr/>
          <p:nvPr/>
        </p:nvSpPr>
        <p:spPr>
          <a:xfrm>
            <a:off x="8092440" y="1234440"/>
            <a:ext cx="3566160" cy="2377440"/>
          </a:xfrm>
          <a:prstGeom prst="roundRect">
            <a:avLst>
              <a:gd name="adj" fmla="val 80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0" y="1325880"/>
            <a:ext cx="3291840" cy="2286000"/>
          </a:xfrm>
          <a:prstGeom prst="rect">
            <a:avLst/>
          </a:prstGeom>
          <a:noFill/>
        </p:spPr>
        <p:txBody>
          <a:bodyPr wrap="square" anchor="t" lIns="45720" rIns="45720">
            <a:spAutoFit/>
          </a:bodyPr>
          <a:lstStyle/>
          <a:p>
            <a:pPr algn="l">
              <a:spcAft>
                <a:spcPts val="600"/>
              </a:spcAft>
            </a:pPr>
            <a:r>
              <a:rPr sz="1400" b="1" i="0">
                <a:solidFill>
                  <a:srgbClr val="12466B"/>
                </a:solidFill>
                <a:latin typeface="Calibri"/>
              </a:rPr>
              <a:t>ADF / KPSS (training)</a:t>
            </a:r>
          </a:p>
          <a:p>
            <a:pPr algn="l">
              <a:spcAft>
                <a:spcPts val="600"/>
              </a:spcAft>
            </a:pPr>
            <a:r>
              <a:rPr sz="1400" b="0" i="0">
                <a:solidFill>
                  <a:srgbClr val="1A1A1A"/>
                </a:solidFill>
                <a:latin typeface="Calibri"/>
              </a:rPr>
              <a:t>Level: ADF -9.201, KPSS 9.097 → conflict</a:t>
            </a:r>
          </a:p>
          <a:p>
            <a:pPr algn="l">
              <a:spcAft>
                <a:spcPts val="600"/>
              </a:spcAft>
            </a:pPr>
            <a:r>
              <a:rPr sz="1400" b="0" i="0">
                <a:solidFill>
                  <a:srgbClr val="1A1A1A"/>
                </a:solidFill>
                <a:latin typeface="Calibri"/>
              </a:rPr>
              <a:t>After lag-24 diff: ADF -31.694, KPSS 0.003 → stationary</a:t>
            </a:r>
          </a:p>
          <a:p>
            <a:pPr algn="l">
              <a:spcAft>
                <a:spcPts val="600"/>
              </a:spcAft>
            </a:pPr>
            <a:r>
              <a:rPr sz="1400" b="1" i="0">
                <a:solidFill>
                  <a:srgbClr val="1A1A1A"/>
                </a:solidFill>
                <a:latin typeface="Calibri"/>
              </a:rPr>
              <a:t>⇒ d = 0, D = 1, s = 24</a:t>
            </a:r>
          </a:p>
        </p:txBody>
      </p:sp>
      <p:sp>
        <p:nvSpPr>
          <p:cNvPr id="6" name="Rounded Rectangle 5"/>
          <p:cNvSpPr/>
          <p:nvPr/>
        </p:nvSpPr>
        <p:spPr>
          <a:xfrm>
            <a:off x="8092440" y="3794760"/>
            <a:ext cx="3566160" cy="2468880"/>
          </a:xfrm>
          <a:prstGeom prst="roundRect">
            <a:avLst>
              <a:gd name="adj" fmla="val 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0" y="3886200"/>
            <a:ext cx="3291840" cy="2377440"/>
          </a:xfrm>
          <a:prstGeom prst="rect">
            <a:avLst/>
          </a:prstGeom>
          <a:noFill/>
        </p:spPr>
        <p:txBody>
          <a:bodyPr wrap="square" anchor="t" lIns="45720" rIns="45720">
            <a:spAutoFit/>
          </a:bodyPr>
          <a:lstStyle/>
          <a:p>
            <a:pPr algn="l">
              <a:spcAft>
                <a:spcPts val="600"/>
              </a:spcAft>
            </a:pPr>
            <a:r>
              <a:rPr sz="1400" b="1" i="0">
                <a:solidFill>
                  <a:srgbClr val="FFFFFF"/>
                </a:solidFill>
                <a:latin typeface="Calibri"/>
              </a:rPr>
              <a:t>Left after lag-24 differencing</a:t>
            </a:r>
          </a:p>
          <a:p>
            <a:pPr algn="l">
              <a:spcAft>
                <a:spcPts val="600"/>
              </a:spcAft>
            </a:pPr>
            <a:r>
              <a:rPr sz="2400" b="1" i="0">
                <a:solidFill>
                  <a:srgbClr val="F5B493"/>
                </a:solidFill>
                <a:latin typeface="Calibri"/>
              </a:rPr>
              <a:t>ACF at lag 168 = 0.53</a:t>
            </a:r>
          </a:p>
          <a:p>
            <a:pPr algn="l">
              <a:spcAft>
                <a:spcPts val="600"/>
              </a:spcAft>
            </a:pPr>
            <a:r>
              <a:rPr sz="1400" b="0" i="0">
                <a:solidFill>
                  <a:srgbClr val="FFFFFF"/>
                </a:solidFill>
                <a:latin typeface="Calibri"/>
              </a:rPr>
              <a:t>Weekly memory that a single seasonal period of 24 cannot capture.</a:t>
            </a:r>
          </a:p>
        </p:txBody>
      </p:sp>
      <p:sp>
        <p:nvSpPr>
          <p:cNvPr id="8" name="TextBox 7"/>
          <p:cNvSpPr txBox="1"/>
          <p:nvPr/>
        </p:nvSpPr>
        <p:spPr>
          <a:xfrm>
            <a:off x="548640" y="6400800"/>
            <a:ext cx="8229600" cy="320040"/>
          </a:xfrm>
          <a:prstGeom prst="rect">
            <a:avLst/>
          </a:prstGeom>
          <a:noFill/>
        </p:spPr>
        <p:txBody>
          <a:bodyPr wrap="square" anchor="t" lIns="45720" rIns="45720">
            <a:spAutoFit/>
          </a:bodyPr>
          <a:lstStyle/>
          <a:p>
            <a:pPr algn="l">
              <a:spcAft>
                <a:spcPts val="600"/>
              </a:spcAft>
            </a:pPr>
            <a:r>
              <a:rPr sz="1000" b="0" i="0">
                <a:solidFill>
                  <a:srgbClr val="555B63"/>
                </a:solidFill>
                <a:latin typeface="Calibri"/>
              </a:rPr>
              <a:t>Hourly Urban Water Demand Forecasting · Time Series Analysis (24AM7PCTSA)</a:t>
            </a:r>
          </a:p>
        </p:txBody>
      </p:sp>
      <p:sp>
        <p:nvSpPr>
          <p:cNvPr id="9" name="TextBox 8"/>
          <p:cNvSpPr txBox="1"/>
          <p:nvPr/>
        </p:nvSpPr>
        <p:spPr>
          <a:xfrm>
            <a:off x="10911535" y="6400800"/>
            <a:ext cx="731520" cy="320040"/>
          </a:xfrm>
          <a:prstGeom prst="rect">
            <a:avLst/>
          </a:prstGeom>
          <a:noFill/>
        </p:spPr>
        <p:txBody>
          <a:bodyPr wrap="square" anchor="t" lIns="45720" rIns="45720">
            <a:spAutoFit/>
          </a:bodyPr>
          <a:lstStyle/>
          <a:p>
            <a:pPr algn="r">
              <a:spcAft>
                <a:spcPts val="600"/>
              </a:spcAft>
            </a:pPr>
            <a:r>
              <a:rPr sz="1000" b="0" i="0">
                <a:solidFill>
                  <a:srgbClr val="555B63"/>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lIns="45720" rIns="45720">
            <a:spAutoFit/>
          </a:bodyPr>
          <a:lstStyle/>
          <a:p>
            <a:pPr algn="l">
              <a:spcAft>
                <a:spcPts val="600"/>
              </a:spcAft>
            </a:pPr>
            <a:r>
              <a:rPr sz="3400" b="1" i="0">
                <a:solidFill>
                  <a:srgbClr val="0B2E4A"/>
                </a:solidFill>
                <a:latin typeface="Cambria"/>
              </a:rPr>
              <a:t>Baseline: SARIMA(3,0,1)(0,1,1)24</a:t>
            </a:r>
          </a:p>
        </p:txBody>
      </p:sp>
      <p:sp>
        <p:nvSpPr>
          <p:cNvPr id="3" name="TextBox 2"/>
          <p:cNvSpPr txBox="1"/>
          <p:nvPr/>
        </p:nvSpPr>
        <p:spPr>
          <a:xfrm>
            <a:off x="548640" y="987552"/>
            <a:ext cx="11094415" cy="411480"/>
          </a:xfrm>
          <a:prstGeom prst="rect">
            <a:avLst/>
          </a:prstGeom>
          <a:noFill/>
        </p:spPr>
        <p:txBody>
          <a:bodyPr wrap="square" anchor="t" lIns="45720" rIns="45720">
            <a:spAutoFit/>
          </a:bodyPr>
          <a:lstStyle/>
          <a:p>
            <a:pPr algn="l">
              <a:spcAft>
                <a:spcPts val="600"/>
              </a:spcAft>
            </a:pPr>
            <a:r>
              <a:rPr sz="1600" b="0" i="0">
                <a:solidFill>
                  <a:srgbClr val="555B63"/>
                </a:solidFill>
                <a:latin typeface="Calibri"/>
              </a:rPr>
              <a:t>18 configurations (6 orders × 3 estimation windows) compared on validation</a:t>
            </a:r>
          </a:p>
        </p:txBody>
      </p:sp>
      <p:sp>
        <p:nvSpPr>
          <p:cNvPr id="4" name="TextBox 3"/>
          <p:cNvSpPr txBox="1"/>
          <p:nvPr/>
        </p:nvSpPr>
        <p:spPr>
          <a:xfrm>
            <a:off x="548640" y="1600200"/>
            <a:ext cx="4937760" cy="4572000"/>
          </a:xfrm>
          <a:prstGeom prst="rect">
            <a:avLst/>
          </a:prstGeom>
          <a:noFill/>
        </p:spPr>
        <p:txBody>
          <a:bodyPr wrap="square">
            <a:spAutoFit/>
          </a:bodyPr>
          <a:lstStyle/>
          <a:p>
            <a:pPr>
              <a:spcAft>
                <a:spcPts val="800"/>
              </a:spcAft>
            </a:pPr>
            <a:r>
              <a:rPr sz="1500" b="1">
                <a:solidFill>
                  <a:srgbClr val="1A1A1A"/>
                </a:solidFill>
                <a:latin typeface="Calibri"/>
              </a:rPr>
              <a:t>•  Order from ACF/PACF: </a:t>
            </a:r>
            <a:r>
              <a:rPr sz="1500" b="0">
                <a:solidFill>
                  <a:srgbClr val="1A1A1A"/>
                </a:solidFill>
                <a:latin typeface="Calibri"/>
              </a:rPr>
              <a:t>d = 0, D = 1, seasonal MA(1), AR(3) + MA(1)</a:t>
            </a:r>
          </a:p>
          <a:p>
            <a:pPr>
              <a:spcAft>
                <a:spcPts val="800"/>
              </a:spcAft>
            </a:pPr>
            <a:r>
              <a:rPr sz="1500" b="1">
                <a:solidFill>
                  <a:srgbClr val="1A1A1A"/>
                </a:solidFill>
                <a:latin typeface="Calibri"/>
              </a:rPr>
              <a:t>•  Estimated on last 4 weeks </a:t>
            </a:r>
            <a:r>
              <a:rPr sz="1500" b="0">
                <a:solidFill>
                  <a:srgbClr val="1A1A1A"/>
                </a:solidFill>
                <a:latin typeface="Calibri"/>
              </a:rPr>
              <a:t>before the forecast period; then fixed</a:t>
            </a:r>
          </a:p>
          <a:p>
            <a:pPr>
              <a:spcAft>
                <a:spcPts val="800"/>
              </a:spcAft>
            </a:pPr>
            <a:r>
              <a:rPr sz="1500" b="1">
                <a:solidFill>
                  <a:srgbClr val="1A1A1A"/>
                </a:solidFill>
                <a:latin typeface="Calibri"/>
              </a:rPr>
              <a:t>•  Kalman filter update </a:t>
            </a:r>
            <a:r>
              <a:rPr sz="1500" b="0">
                <a:solidFill>
                  <a:srgbClr val="1A1A1A"/>
                </a:solidFill>
                <a:latin typeface="Calibri"/>
              </a:rPr>
              <a:t>with each new day (no refit, no leakage)</a:t>
            </a:r>
          </a:p>
          <a:p>
            <a:pPr>
              <a:spcAft>
                <a:spcPts val="800"/>
              </a:spcAft>
            </a:pPr>
            <a:r>
              <a:rPr sz="1500" b="1">
                <a:solidFill>
                  <a:srgbClr val="1A1A1A"/>
                </a:solidFill>
                <a:latin typeface="Calibri"/>
              </a:rPr>
              <a:t>•  Coefficients: </a:t>
            </a:r>
            <a:r>
              <a:rPr sz="1500" b="0">
                <a:solidFill>
                  <a:srgbClr val="1A1A1A"/>
                </a:solidFill>
                <a:latin typeface="Calibri"/>
              </a:rPr>
              <a:t>seasonal MA -0.85; AR sum 0.997; all p &lt; 0.001</a:t>
            </a:r>
          </a:p>
          <a:p>
            <a:pPr>
              <a:spcAft>
                <a:spcPts val="800"/>
              </a:spcAft>
            </a:pPr>
            <a:r>
              <a:rPr sz="1500" b="1">
                <a:solidFill>
                  <a:srgbClr val="1A1A1A"/>
                </a:solidFill>
                <a:latin typeface="Calibri"/>
              </a:rPr>
              <a:t>•  Validation MAE: </a:t>
            </a:r>
            <a:r>
              <a:rPr sz="1500" b="0">
                <a:solidFill>
                  <a:srgbClr val="1A1A1A"/>
                </a:solidFill>
                <a:latin typeface="Calibri"/>
              </a:rPr>
              <a:t>280.9 m³/h</a:t>
            </a:r>
          </a:p>
          <a:p>
            <a:pPr>
              <a:spcAft>
                <a:spcPts val="800"/>
              </a:spcAft>
            </a:pPr>
            <a:r>
              <a:rPr sz="1500" b="1">
                <a:solidFill>
                  <a:srgbClr val="1A1A1A"/>
                </a:solidFill>
                <a:latin typeface="Calibri"/>
              </a:rPr>
              <a:t>•  Limitation: </a:t>
            </a:r>
            <a:r>
              <a:rPr sz="1500" b="0">
                <a:solidFill>
                  <a:srgbClr val="1A1A1A"/>
                </a:solidFill>
                <a:latin typeface="Calibri"/>
              </a:rPr>
              <a:t>one seasonal period, so the weekly pattern is invisible</a:t>
            </a:r>
          </a:p>
        </p:txBody>
      </p:sp>
      <p:pic>
        <p:nvPicPr>
          <p:cNvPr id="5" name="Picture 4" descr="fig12_sarima_residual_diagnostics.png"/>
          <p:cNvPicPr>
            <a:picLocks noChangeAspect="1"/>
          </p:cNvPicPr>
          <p:nvPr/>
        </p:nvPicPr>
        <p:blipFill>
          <a:blip r:embed="rId3"/>
          <a:stretch>
            <a:fillRect/>
          </a:stretch>
        </p:blipFill>
        <p:spPr>
          <a:xfrm>
            <a:off x="5760720" y="1508760"/>
            <a:ext cx="5943600" cy="3855493"/>
          </a:xfrm>
          <a:prstGeom prst="rect">
            <a:avLst/>
          </a:prstGeom>
        </p:spPr>
      </p:pic>
      <p:sp>
        <p:nvSpPr>
          <p:cNvPr id="6" name="TextBox 5"/>
          <p:cNvSpPr txBox="1"/>
          <p:nvPr/>
        </p:nvSpPr>
        <p:spPr>
          <a:xfrm>
            <a:off x="548640" y="6400800"/>
            <a:ext cx="8229600" cy="320040"/>
          </a:xfrm>
          <a:prstGeom prst="rect">
            <a:avLst/>
          </a:prstGeom>
          <a:noFill/>
        </p:spPr>
        <p:txBody>
          <a:bodyPr wrap="square" anchor="t" lIns="45720" rIns="45720">
            <a:spAutoFit/>
          </a:bodyPr>
          <a:lstStyle/>
          <a:p>
            <a:pPr algn="l">
              <a:spcAft>
                <a:spcPts val="600"/>
              </a:spcAft>
            </a:pPr>
            <a:r>
              <a:rPr sz="1000" b="0" i="0">
                <a:solidFill>
                  <a:srgbClr val="555B63"/>
                </a:solidFill>
                <a:latin typeface="Calibri"/>
              </a:rPr>
              <a:t>Hourly Urban Water Demand Forecasting · Time Series Analysis (24AM7PCTSA)</a:t>
            </a:r>
          </a:p>
        </p:txBody>
      </p:sp>
      <p:sp>
        <p:nvSpPr>
          <p:cNvPr id="7" name="TextBox 6"/>
          <p:cNvSpPr txBox="1"/>
          <p:nvPr/>
        </p:nvSpPr>
        <p:spPr>
          <a:xfrm>
            <a:off x="10911535" y="6400800"/>
            <a:ext cx="731520" cy="320040"/>
          </a:xfrm>
          <a:prstGeom prst="rect">
            <a:avLst/>
          </a:prstGeom>
          <a:noFill/>
        </p:spPr>
        <p:txBody>
          <a:bodyPr wrap="square" anchor="t" lIns="45720" rIns="45720">
            <a:spAutoFit/>
          </a:bodyPr>
          <a:lstStyle/>
          <a:p>
            <a:pPr algn="r">
              <a:spcAft>
                <a:spcPts val="600"/>
              </a:spcAft>
            </a:pPr>
            <a:r>
              <a:rPr sz="1000" b="0" i="0">
                <a:solidFill>
                  <a:srgbClr val="555B63"/>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lIns="45720" rIns="45720">
            <a:spAutoFit/>
          </a:bodyPr>
          <a:lstStyle/>
          <a:p>
            <a:pPr algn="l">
              <a:spcAft>
                <a:spcPts val="600"/>
              </a:spcAft>
            </a:pPr>
            <a:r>
              <a:rPr sz="3400" b="1" i="0">
                <a:solidFill>
                  <a:srgbClr val="0B2E4A"/>
                </a:solidFill>
                <a:latin typeface="Cambria"/>
              </a:rPr>
              <a:t>Enhancement: MSTL (24 h + 168 h) + ARIMA</a:t>
            </a:r>
          </a:p>
        </p:txBody>
      </p:sp>
      <p:sp>
        <p:nvSpPr>
          <p:cNvPr id="3" name="TextBox 2"/>
          <p:cNvSpPr txBox="1"/>
          <p:nvPr/>
        </p:nvSpPr>
        <p:spPr>
          <a:xfrm>
            <a:off x="548640" y="987552"/>
            <a:ext cx="11094415" cy="411480"/>
          </a:xfrm>
          <a:prstGeom prst="rect">
            <a:avLst/>
          </a:prstGeom>
          <a:noFill/>
        </p:spPr>
        <p:txBody>
          <a:bodyPr wrap="square" anchor="t" lIns="45720" rIns="45720">
            <a:spAutoFit/>
          </a:bodyPr>
          <a:lstStyle/>
          <a:p>
            <a:pPr algn="l">
              <a:spcAft>
                <a:spcPts val="600"/>
              </a:spcAft>
            </a:pPr>
            <a:r>
              <a:rPr sz="1600" b="0" i="0">
                <a:solidFill>
                  <a:srgbClr val="555B63"/>
                </a:solidFill>
                <a:latin typeface="Calibri"/>
              </a:rPr>
              <a:t>Re-run every day on a trailing 12-week window · 9 configurations tuned on validation</a:t>
            </a:r>
          </a:p>
        </p:txBody>
      </p:sp>
      <p:sp>
        <p:nvSpPr>
          <p:cNvPr id="4" name="Rounded Rectangle 3"/>
          <p:cNvSpPr/>
          <p:nvPr/>
        </p:nvSpPr>
        <p:spPr>
          <a:xfrm>
            <a:off x="548640" y="1691640"/>
            <a:ext cx="2011680" cy="1828800"/>
          </a:xfrm>
          <a:prstGeom prst="roundRect">
            <a:avLst>
              <a:gd name="adj" fmla="val 80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55648"/>
            <a:ext cx="1828800" cy="457200"/>
          </a:xfrm>
          <a:prstGeom prst="rect">
            <a:avLst/>
          </a:prstGeom>
          <a:noFill/>
        </p:spPr>
        <p:txBody>
          <a:bodyPr wrap="square" anchor="t" lIns="45720" rIns="45720">
            <a:spAutoFit/>
          </a:bodyPr>
          <a:lstStyle/>
          <a:p>
            <a:pPr algn="l">
              <a:spcAft>
                <a:spcPts val="600"/>
              </a:spcAft>
            </a:pPr>
            <a:r>
              <a:rPr sz="2400" b="1" i="0">
                <a:solidFill>
                  <a:srgbClr val="0B2E4A"/>
                </a:solidFill>
                <a:latin typeface="Cambria"/>
              </a:rPr>
              <a:t>1</a:t>
            </a:r>
          </a:p>
        </p:txBody>
      </p:sp>
      <p:sp>
        <p:nvSpPr>
          <p:cNvPr id="6" name="TextBox 5"/>
          <p:cNvSpPr txBox="1"/>
          <p:nvPr/>
        </p:nvSpPr>
        <p:spPr>
          <a:xfrm>
            <a:off x="640080" y="2240280"/>
            <a:ext cx="1828800" cy="457200"/>
          </a:xfrm>
          <a:prstGeom prst="rect">
            <a:avLst/>
          </a:prstGeom>
          <a:noFill/>
        </p:spPr>
        <p:txBody>
          <a:bodyPr wrap="square" anchor="t" lIns="45720" rIns="45720">
            <a:spAutoFit/>
          </a:bodyPr>
          <a:lstStyle/>
          <a:p>
            <a:pPr algn="l">
              <a:spcAft>
                <a:spcPts val="600"/>
              </a:spcAft>
            </a:pPr>
            <a:r>
              <a:rPr sz="1500" b="1" i="0">
                <a:solidFill>
                  <a:srgbClr val="0B2E4A"/>
                </a:solidFill>
                <a:latin typeface="Calibri"/>
              </a:rPr>
              <a:t>Trailing window</a:t>
            </a:r>
          </a:p>
        </p:txBody>
      </p:sp>
      <p:sp>
        <p:nvSpPr>
          <p:cNvPr id="7" name="TextBox 6"/>
          <p:cNvSpPr txBox="1"/>
          <p:nvPr/>
        </p:nvSpPr>
        <p:spPr>
          <a:xfrm>
            <a:off x="640080" y="2697480"/>
            <a:ext cx="1828800" cy="777240"/>
          </a:xfrm>
          <a:prstGeom prst="rect">
            <a:avLst/>
          </a:prstGeom>
          <a:noFill/>
        </p:spPr>
        <p:txBody>
          <a:bodyPr wrap="square" anchor="t" lIns="45720" rIns="45720">
            <a:spAutoFit/>
          </a:bodyPr>
          <a:lstStyle/>
          <a:p>
            <a:pPr algn="l">
              <a:spcAft>
                <a:spcPts val="600"/>
              </a:spcAft>
            </a:pPr>
            <a:r>
              <a:rPr sz="1300" b="0" i="0">
                <a:solidFill>
                  <a:srgbClr val="1A1A1A"/>
                </a:solidFill>
                <a:latin typeface="Calibri"/>
              </a:rPr>
              <a:t>last 12 weeks before 00:00</a:t>
            </a:r>
          </a:p>
        </p:txBody>
      </p:sp>
      <p:sp>
        <p:nvSpPr>
          <p:cNvPr id="8" name="Right Arrow 7"/>
          <p:cNvSpPr/>
          <p:nvPr/>
        </p:nvSpPr>
        <p:spPr>
          <a:xfrm>
            <a:off x="2578608" y="2468880"/>
            <a:ext cx="237744" cy="274320"/>
          </a:xfrm>
          <a:prstGeom prst="rightArrow">
            <a:avLst/>
          </a:prstGeom>
          <a:solidFill>
            <a:srgbClr val="555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34640" y="1691640"/>
            <a:ext cx="2011680" cy="1828800"/>
          </a:xfrm>
          <a:prstGeom prst="roundRect">
            <a:avLst>
              <a:gd name="adj" fmla="val 80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0" y="1755648"/>
            <a:ext cx="1828800" cy="457200"/>
          </a:xfrm>
          <a:prstGeom prst="rect">
            <a:avLst/>
          </a:prstGeom>
          <a:noFill/>
        </p:spPr>
        <p:txBody>
          <a:bodyPr wrap="square" anchor="t" lIns="45720" rIns="45720">
            <a:spAutoFit/>
          </a:bodyPr>
          <a:lstStyle/>
          <a:p>
            <a:pPr algn="l">
              <a:spcAft>
                <a:spcPts val="600"/>
              </a:spcAft>
            </a:pPr>
            <a:r>
              <a:rPr sz="2400" b="1" i="0">
                <a:solidFill>
                  <a:srgbClr val="0B2E4A"/>
                </a:solidFill>
                <a:latin typeface="Cambria"/>
              </a:rPr>
              <a:t>2</a:t>
            </a:r>
          </a:p>
        </p:txBody>
      </p:sp>
      <p:sp>
        <p:nvSpPr>
          <p:cNvPr id="11" name="TextBox 10"/>
          <p:cNvSpPr txBox="1"/>
          <p:nvPr/>
        </p:nvSpPr>
        <p:spPr>
          <a:xfrm>
            <a:off x="2926080" y="2240280"/>
            <a:ext cx="1828800" cy="457200"/>
          </a:xfrm>
          <a:prstGeom prst="rect">
            <a:avLst/>
          </a:prstGeom>
          <a:noFill/>
        </p:spPr>
        <p:txBody>
          <a:bodyPr wrap="square" anchor="t" lIns="45720" rIns="45720">
            <a:spAutoFit/>
          </a:bodyPr>
          <a:lstStyle/>
          <a:p>
            <a:pPr algn="l">
              <a:spcAft>
                <a:spcPts val="600"/>
              </a:spcAft>
            </a:pPr>
            <a:r>
              <a:rPr sz="1500" b="1" i="0">
                <a:solidFill>
                  <a:srgbClr val="0B2E4A"/>
                </a:solidFill>
                <a:latin typeface="Calibri"/>
              </a:rPr>
              <a:t>MSTL</a:t>
            </a:r>
          </a:p>
        </p:txBody>
      </p:sp>
      <p:sp>
        <p:nvSpPr>
          <p:cNvPr id="12" name="TextBox 11"/>
          <p:cNvSpPr txBox="1"/>
          <p:nvPr/>
        </p:nvSpPr>
        <p:spPr>
          <a:xfrm>
            <a:off x="2926080" y="2697480"/>
            <a:ext cx="1828800" cy="777240"/>
          </a:xfrm>
          <a:prstGeom prst="rect">
            <a:avLst/>
          </a:prstGeom>
          <a:noFill/>
        </p:spPr>
        <p:txBody>
          <a:bodyPr wrap="square" anchor="t" lIns="45720" rIns="45720">
            <a:spAutoFit/>
          </a:bodyPr>
          <a:lstStyle/>
          <a:p>
            <a:pPr algn="l">
              <a:spcAft>
                <a:spcPts val="600"/>
              </a:spcAft>
            </a:pPr>
            <a:r>
              <a:rPr sz="1300" b="0" i="0">
                <a:solidFill>
                  <a:srgbClr val="1A1A1A"/>
                </a:solidFill>
                <a:latin typeface="Calibri"/>
              </a:rPr>
              <a:t>trend + daily + weekly + remainder</a:t>
            </a:r>
          </a:p>
        </p:txBody>
      </p:sp>
      <p:sp>
        <p:nvSpPr>
          <p:cNvPr id="13" name="Right Arrow 12"/>
          <p:cNvSpPr/>
          <p:nvPr/>
        </p:nvSpPr>
        <p:spPr>
          <a:xfrm>
            <a:off x="4864608" y="2468880"/>
            <a:ext cx="237744" cy="274320"/>
          </a:xfrm>
          <a:prstGeom prst="rightArrow">
            <a:avLst/>
          </a:prstGeom>
          <a:solidFill>
            <a:srgbClr val="555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120640" y="1691640"/>
            <a:ext cx="2011680" cy="1828800"/>
          </a:xfrm>
          <a:prstGeom prst="roundRect">
            <a:avLst>
              <a:gd name="adj" fmla="val 80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79" y="1755648"/>
            <a:ext cx="1828800" cy="457200"/>
          </a:xfrm>
          <a:prstGeom prst="rect">
            <a:avLst/>
          </a:prstGeom>
          <a:noFill/>
        </p:spPr>
        <p:txBody>
          <a:bodyPr wrap="square" anchor="t" lIns="45720" rIns="45720">
            <a:spAutoFit/>
          </a:bodyPr>
          <a:lstStyle/>
          <a:p>
            <a:pPr algn="l">
              <a:spcAft>
                <a:spcPts val="600"/>
              </a:spcAft>
            </a:pPr>
            <a:r>
              <a:rPr sz="2400" b="1" i="0">
                <a:solidFill>
                  <a:srgbClr val="0B2E4A"/>
                </a:solidFill>
                <a:latin typeface="Cambria"/>
              </a:rPr>
              <a:t>3</a:t>
            </a:r>
          </a:p>
        </p:txBody>
      </p:sp>
      <p:sp>
        <p:nvSpPr>
          <p:cNvPr id="16" name="TextBox 15"/>
          <p:cNvSpPr txBox="1"/>
          <p:nvPr/>
        </p:nvSpPr>
        <p:spPr>
          <a:xfrm>
            <a:off x="5212079" y="2240280"/>
            <a:ext cx="1828800" cy="457200"/>
          </a:xfrm>
          <a:prstGeom prst="rect">
            <a:avLst/>
          </a:prstGeom>
          <a:noFill/>
        </p:spPr>
        <p:txBody>
          <a:bodyPr wrap="square" anchor="t" lIns="45720" rIns="45720">
            <a:spAutoFit/>
          </a:bodyPr>
          <a:lstStyle/>
          <a:p>
            <a:pPr algn="l">
              <a:spcAft>
                <a:spcPts val="600"/>
              </a:spcAft>
            </a:pPr>
            <a:r>
              <a:rPr sz="1500" b="1" i="0">
                <a:solidFill>
                  <a:srgbClr val="0B2E4A"/>
                </a:solidFill>
                <a:latin typeface="Calibri"/>
              </a:rPr>
              <a:t>Extend seasonality</a:t>
            </a:r>
          </a:p>
        </p:txBody>
      </p:sp>
      <p:sp>
        <p:nvSpPr>
          <p:cNvPr id="17" name="TextBox 16"/>
          <p:cNvSpPr txBox="1"/>
          <p:nvPr/>
        </p:nvSpPr>
        <p:spPr>
          <a:xfrm>
            <a:off x="5212079" y="2697480"/>
            <a:ext cx="1828800" cy="777240"/>
          </a:xfrm>
          <a:prstGeom prst="rect">
            <a:avLst/>
          </a:prstGeom>
          <a:noFill/>
        </p:spPr>
        <p:txBody>
          <a:bodyPr wrap="square" anchor="t" lIns="45720" rIns="45720">
            <a:spAutoFit/>
          </a:bodyPr>
          <a:lstStyle/>
          <a:p>
            <a:pPr algn="l">
              <a:spcAft>
                <a:spcPts val="600"/>
              </a:spcAft>
            </a:pPr>
            <a:r>
              <a:rPr sz="1300" b="0" i="0">
                <a:solidFill>
                  <a:srgbClr val="1A1A1A"/>
                </a:solidFill>
                <a:latin typeface="Calibri"/>
              </a:rPr>
              <a:t>repeat last day / last week</a:t>
            </a:r>
          </a:p>
        </p:txBody>
      </p:sp>
      <p:sp>
        <p:nvSpPr>
          <p:cNvPr id="18" name="Right Arrow 17"/>
          <p:cNvSpPr/>
          <p:nvPr/>
        </p:nvSpPr>
        <p:spPr>
          <a:xfrm>
            <a:off x="7150608" y="2468880"/>
            <a:ext cx="237744" cy="274320"/>
          </a:xfrm>
          <a:prstGeom prst="rightArrow">
            <a:avLst/>
          </a:prstGeom>
          <a:solidFill>
            <a:srgbClr val="555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6640" y="1691640"/>
            <a:ext cx="2011680" cy="1828800"/>
          </a:xfrm>
          <a:prstGeom prst="roundRect">
            <a:avLst>
              <a:gd name="adj" fmla="val 80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79" y="1755648"/>
            <a:ext cx="1828800" cy="457200"/>
          </a:xfrm>
          <a:prstGeom prst="rect">
            <a:avLst/>
          </a:prstGeom>
          <a:noFill/>
        </p:spPr>
        <p:txBody>
          <a:bodyPr wrap="square" anchor="t" lIns="45720" rIns="45720">
            <a:spAutoFit/>
          </a:bodyPr>
          <a:lstStyle/>
          <a:p>
            <a:pPr algn="l">
              <a:spcAft>
                <a:spcPts val="600"/>
              </a:spcAft>
            </a:pPr>
            <a:r>
              <a:rPr sz="2400" b="1" i="0">
                <a:solidFill>
                  <a:srgbClr val="0B2E4A"/>
                </a:solidFill>
                <a:latin typeface="Cambria"/>
              </a:rPr>
              <a:t>4</a:t>
            </a:r>
          </a:p>
        </p:txBody>
      </p:sp>
      <p:sp>
        <p:nvSpPr>
          <p:cNvPr id="21" name="TextBox 20"/>
          <p:cNvSpPr txBox="1"/>
          <p:nvPr/>
        </p:nvSpPr>
        <p:spPr>
          <a:xfrm>
            <a:off x="7498079" y="2240280"/>
            <a:ext cx="1828800" cy="457200"/>
          </a:xfrm>
          <a:prstGeom prst="rect">
            <a:avLst/>
          </a:prstGeom>
          <a:noFill/>
        </p:spPr>
        <p:txBody>
          <a:bodyPr wrap="square" anchor="t" lIns="45720" rIns="45720">
            <a:spAutoFit/>
          </a:bodyPr>
          <a:lstStyle/>
          <a:p>
            <a:pPr algn="l">
              <a:spcAft>
                <a:spcPts val="600"/>
              </a:spcAft>
            </a:pPr>
            <a:r>
              <a:rPr sz="1500" b="1" i="0">
                <a:solidFill>
                  <a:srgbClr val="0B2E4A"/>
                </a:solidFill>
                <a:latin typeface="Calibri"/>
              </a:rPr>
              <a:t>ARIMA(1,1,1)</a:t>
            </a:r>
          </a:p>
        </p:txBody>
      </p:sp>
      <p:sp>
        <p:nvSpPr>
          <p:cNvPr id="22" name="TextBox 21"/>
          <p:cNvSpPr txBox="1"/>
          <p:nvPr/>
        </p:nvSpPr>
        <p:spPr>
          <a:xfrm>
            <a:off x="7498079" y="2697480"/>
            <a:ext cx="1828800" cy="777240"/>
          </a:xfrm>
          <a:prstGeom prst="rect">
            <a:avLst/>
          </a:prstGeom>
          <a:noFill/>
        </p:spPr>
        <p:txBody>
          <a:bodyPr wrap="square" anchor="t" lIns="45720" rIns="45720">
            <a:spAutoFit/>
          </a:bodyPr>
          <a:lstStyle/>
          <a:p>
            <a:pPr algn="l">
              <a:spcAft>
                <a:spcPts val="600"/>
              </a:spcAft>
            </a:pPr>
            <a:r>
              <a:rPr sz="1300" b="0" i="0">
                <a:solidFill>
                  <a:srgbClr val="1A1A1A"/>
                </a:solidFill>
                <a:latin typeface="Calibri"/>
              </a:rPr>
              <a:t>forecast trend + remainder</a:t>
            </a:r>
          </a:p>
        </p:txBody>
      </p:sp>
      <p:sp>
        <p:nvSpPr>
          <p:cNvPr id="23" name="Right Arrow 22"/>
          <p:cNvSpPr/>
          <p:nvPr/>
        </p:nvSpPr>
        <p:spPr>
          <a:xfrm>
            <a:off x="9436608" y="2468880"/>
            <a:ext cx="237744" cy="274320"/>
          </a:xfrm>
          <a:prstGeom prst="rightArrow">
            <a:avLst/>
          </a:prstGeom>
          <a:solidFill>
            <a:srgbClr val="555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692640" y="1691640"/>
            <a:ext cx="2011680" cy="182880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0" y="1755648"/>
            <a:ext cx="1828800" cy="457200"/>
          </a:xfrm>
          <a:prstGeom prst="rect">
            <a:avLst/>
          </a:prstGeom>
          <a:noFill/>
        </p:spPr>
        <p:txBody>
          <a:bodyPr wrap="square" anchor="t" lIns="45720" rIns="45720">
            <a:spAutoFit/>
          </a:bodyPr>
          <a:lstStyle/>
          <a:p>
            <a:pPr algn="l">
              <a:spcAft>
                <a:spcPts val="600"/>
              </a:spcAft>
            </a:pPr>
            <a:r>
              <a:rPr sz="2400" b="1" i="0">
                <a:solidFill>
                  <a:srgbClr val="FFFFFF"/>
                </a:solidFill>
                <a:latin typeface="Cambria"/>
              </a:rPr>
              <a:t>5</a:t>
            </a:r>
          </a:p>
        </p:txBody>
      </p:sp>
      <p:sp>
        <p:nvSpPr>
          <p:cNvPr id="26" name="TextBox 25"/>
          <p:cNvSpPr txBox="1"/>
          <p:nvPr/>
        </p:nvSpPr>
        <p:spPr>
          <a:xfrm>
            <a:off x="9784080" y="2240280"/>
            <a:ext cx="1828800" cy="457200"/>
          </a:xfrm>
          <a:prstGeom prst="rect">
            <a:avLst/>
          </a:prstGeom>
          <a:noFill/>
        </p:spPr>
        <p:txBody>
          <a:bodyPr wrap="square" anchor="t" lIns="45720" rIns="45720">
            <a:spAutoFit/>
          </a:bodyPr>
          <a:lstStyle/>
          <a:p>
            <a:pPr algn="l">
              <a:spcAft>
                <a:spcPts val="600"/>
              </a:spcAft>
            </a:pPr>
            <a:r>
              <a:rPr sz="1500" b="1" i="0">
                <a:solidFill>
                  <a:srgbClr val="FFFFFF"/>
                </a:solidFill>
                <a:latin typeface="Calibri"/>
              </a:rPr>
              <a:t>Recombine</a:t>
            </a:r>
          </a:p>
        </p:txBody>
      </p:sp>
      <p:sp>
        <p:nvSpPr>
          <p:cNvPr id="27" name="TextBox 26"/>
          <p:cNvSpPr txBox="1"/>
          <p:nvPr/>
        </p:nvSpPr>
        <p:spPr>
          <a:xfrm>
            <a:off x="9784080" y="2697480"/>
            <a:ext cx="1828800" cy="777240"/>
          </a:xfrm>
          <a:prstGeom prst="rect">
            <a:avLst/>
          </a:prstGeom>
          <a:noFill/>
        </p:spPr>
        <p:txBody>
          <a:bodyPr wrap="square" anchor="t" lIns="45720" rIns="45720">
            <a:spAutoFit/>
          </a:bodyPr>
          <a:lstStyle/>
          <a:p>
            <a:pPr algn="l">
              <a:spcAft>
                <a:spcPts val="600"/>
              </a:spcAft>
            </a:pPr>
            <a:r>
              <a:rPr sz="1300" b="0" i="0">
                <a:solidFill>
                  <a:srgbClr val="FFFFFF"/>
                </a:solidFill>
                <a:latin typeface="Calibri"/>
              </a:rPr>
              <a:t>ARIMA + daily + weekly</a:t>
            </a:r>
          </a:p>
        </p:txBody>
      </p:sp>
      <p:sp>
        <p:nvSpPr>
          <p:cNvPr id="28" name="TextBox 27"/>
          <p:cNvSpPr txBox="1"/>
          <p:nvPr/>
        </p:nvSpPr>
        <p:spPr>
          <a:xfrm>
            <a:off x="548640" y="3749039"/>
            <a:ext cx="11155680" cy="457200"/>
          </a:xfrm>
          <a:prstGeom prst="rect">
            <a:avLst/>
          </a:prstGeom>
          <a:noFill/>
        </p:spPr>
        <p:txBody>
          <a:bodyPr wrap="square" anchor="t" lIns="45720" rIns="45720">
            <a:spAutoFit/>
          </a:bodyPr>
          <a:lstStyle/>
          <a:p>
            <a:pPr algn="ctr">
              <a:spcAft>
                <a:spcPts val="600"/>
              </a:spcAft>
            </a:pPr>
            <a:r>
              <a:rPr sz="1700" b="1" i="0">
                <a:solidFill>
                  <a:srgbClr val="12466B"/>
                </a:solidFill>
                <a:latin typeface="Cambria"/>
              </a:rPr>
              <a:t>ŷ(t+h) = ARIMA forecast(t+h) + S24(t+h−24) + S168(t+h−168),   h = 0…23</a:t>
            </a:r>
          </a:p>
        </p:txBody>
      </p:sp>
      <p:sp>
        <p:nvSpPr>
          <p:cNvPr id="29" name="TextBox 28"/>
          <p:cNvSpPr txBox="1"/>
          <p:nvPr/>
        </p:nvSpPr>
        <p:spPr>
          <a:xfrm>
            <a:off x="548640" y="4343400"/>
            <a:ext cx="5486400" cy="1920240"/>
          </a:xfrm>
          <a:prstGeom prst="rect">
            <a:avLst/>
          </a:prstGeom>
          <a:noFill/>
        </p:spPr>
        <p:txBody>
          <a:bodyPr wrap="square">
            <a:spAutoFit/>
          </a:bodyPr>
          <a:lstStyle/>
          <a:p>
            <a:pPr>
              <a:spcAft>
                <a:spcPts val="800"/>
              </a:spcAft>
            </a:pPr>
            <a:r>
              <a:rPr sz="1500" b="1">
                <a:solidFill>
                  <a:srgbClr val="1A1A1A"/>
                </a:solidFill>
                <a:latin typeface="Calibri"/>
              </a:rPr>
              <a:t>•  No leakage: </a:t>
            </a:r>
            <a:r>
              <a:rPr sz="1500" b="0">
                <a:solidFill>
                  <a:srgbClr val="1A1A1A"/>
                </a:solidFill>
                <a:latin typeface="Calibri"/>
              </a:rPr>
              <a:t>decomposition and fitting use only the window before each origin</a:t>
            </a:r>
          </a:p>
          <a:p>
            <a:pPr>
              <a:spcAft>
                <a:spcPts val="800"/>
              </a:spcAft>
            </a:pPr>
            <a:r>
              <a:rPr sz="1500" b="1">
                <a:solidFill>
                  <a:srgbClr val="1A1A1A"/>
                </a:solidFill>
                <a:latin typeface="Calibri"/>
              </a:rPr>
              <a:t>•  Ablation: </a:t>
            </a:r>
            <a:r>
              <a:rPr sz="1500" b="0">
                <a:solidFill>
                  <a:srgbClr val="1A1A1A"/>
                </a:solidFill>
                <a:latin typeface="Calibri"/>
              </a:rPr>
              <a:t>same pipeline with only the 24 h period (MSTL-24 only)</a:t>
            </a:r>
          </a:p>
        </p:txBody>
      </p:sp>
      <p:sp>
        <p:nvSpPr>
          <p:cNvPr id="30" name="TextBox 29"/>
          <p:cNvSpPr txBox="1"/>
          <p:nvPr/>
        </p:nvSpPr>
        <p:spPr>
          <a:xfrm>
            <a:off x="6309360" y="4343400"/>
            <a:ext cx="5394960" cy="1920240"/>
          </a:xfrm>
          <a:prstGeom prst="rect">
            <a:avLst/>
          </a:prstGeom>
          <a:noFill/>
        </p:spPr>
        <p:txBody>
          <a:bodyPr wrap="square">
            <a:spAutoFit/>
          </a:bodyPr>
          <a:lstStyle/>
          <a:p>
            <a:pPr>
              <a:spcAft>
                <a:spcPts val="800"/>
              </a:spcAft>
            </a:pPr>
            <a:r>
              <a:rPr sz="1500" b="1">
                <a:solidFill>
                  <a:srgbClr val="1A1A1A"/>
                </a:solidFill>
                <a:latin typeface="Calibri"/>
              </a:rPr>
              <a:t>•  Selected: </a:t>
            </a:r>
            <a:r>
              <a:rPr sz="1500" b="0">
                <a:solidFill>
                  <a:srgbClr val="1A1A1A"/>
                </a:solidFill>
                <a:latin typeface="Calibri"/>
              </a:rPr>
              <a:t>12-week window, ARIMA(1,1,1); validation MAE 205.7</a:t>
            </a:r>
          </a:p>
          <a:p>
            <a:pPr>
              <a:spcAft>
                <a:spcPts val="800"/>
              </a:spcAft>
            </a:pPr>
            <a:r>
              <a:rPr sz="1500" b="1">
                <a:solidFill>
                  <a:srgbClr val="1A1A1A"/>
                </a:solidFill>
                <a:latin typeface="Calibri"/>
              </a:rPr>
              <a:t>•  Cost: </a:t>
            </a:r>
            <a:r>
              <a:rPr sz="1500" b="0">
                <a:solidFill>
                  <a:srgbClr val="1A1A1A"/>
                </a:solidFill>
                <a:latin typeface="Calibri"/>
              </a:rPr>
              <a:t>~1 s per daily forecast on a laptop</a:t>
            </a:r>
          </a:p>
        </p:txBody>
      </p:sp>
      <p:sp>
        <p:nvSpPr>
          <p:cNvPr id="31" name="TextBox 30"/>
          <p:cNvSpPr txBox="1"/>
          <p:nvPr/>
        </p:nvSpPr>
        <p:spPr>
          <a:xfrm>
            <a:off x="548640" y="6400800"/>
            <a:ext cx="8229600" cy="320040"/>
          </a:xfrm>
          <a:prstGeom prst="rect">
            <a:avLst/>
          </a:prstGeom>
          <a:noFill/>
        </p:spPr>
        <p:txBody>
          <a:bodyPr wrap="square" anchor="t" lIns="45720" rIns="45720">
            <a:spAutoFit/>
          </a:bodyPr>
          <a:lstStyle/>
          <a:p>
            <a:pPr algn="l">
              <a:spcAft>
                <a:spcPts val="600"/>
              </a:spcAft>
            </a:pPr>
            <a:r>
              <a:rPr sz="1000" b="0" i="0">
                <a:solidFill>
                  <a:srgbClr val="555B63"/>
                </a:solidFill>
                <a:latin typeface="Calibri"/>
              </a:rPr>
              <a:t>Hourly Urban Water Demand Forecasting · Time Series Analysis (24AM7PCTSA)</a:t>
            </a:r>
          </a:p>
        </p:txBody>
      </p:sp>
      <p:sp>
        <p:nvSpPr>
          <p:cNvPr id="32" name="TextBox 31"/>
          <p:cNvSpPr txBox="1"/>
          <p:nvPr/>
        </p:nvSpPr>
        <p:spPr>
          <a:xfrm>
            <a:off x="10911535" y="6400800"/>
            <a:ext cx="731520" cy="320040"/>
          </a:xfrm>
          <a:prstGeom prst="rect">
            <a:avLst/>
          </a:prstGeom>
          <a:noFill/>
        </p:spPr>
        <p:txBody>
          <a:bodyPr wrap="square" anchor="t" lIns="45720" rIns="45720">
            <a:spAutoFit/>
          </a:bodyPr>
          <a:lstStyle/>
          <a:p>
            <a:pPr algn="r">
              <a:spcAft>
                <a:spcPts val="600"/>
              </a:spcAft>
            </a:pPr>
            <a:r>
              <a:rPr sz="1000" b="0" i="0">
                <a:solidFill>
                  <a:srgbClr val="555B63"/>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lIns="45720" rIns="45720">
            <a:spAutoFit/>
          </a:bodyPr>
          <a:lstStyle/>
          <a:p>
            <a:pPr algn="l">
              <a:spcAft>
                <a:spcPts val="600"/>
              </a:spcAft>
            </a:pPr>
            <a:r>
              <a:rPr sz="3400" b="1" i="0">
                <a:solidFill>
                  <a:srgbClr val="0B2E4A"/>
                </a:solidFill>
                <a:latin typeface="Cambria"/>
              </a:rPr>
              <a:t>Results: ~26% less error on unseen data</a:t>
            </a:r>
          </a:p>
        </p:txBody>
      </p:sp>
      <p:sp>
        <p:nvSpPr>
          <p:cNvPr id="3" name="TextBox 2"/>
          <p:cNvSpPr txBox="1"/>
          <p:nvPr/>
        </p:nvSpPr>
        <p:spPr>
          <a:xfrm>
            <a:off x="548640" y="987552"/>
            <a:ext cx="11094415" cy="411480"/>
          </a:xfrm>
          <a:prstGeom prst="rect">
            <a:avLst/>
          </a:prstGeom>
          <a:noFill/>
        </p:spPr>
        <p:txBody>
          <a:bodyPr wrap="square" anchor="t" lIns="45720" rIns="45720">
            <a:spAutoFit/>
          </a:bodyPr>
          <a:lstStyle/>
          <a:p>
            <a:pPr algn="l">
              <a:spcAft>
                <a:spcPts val="600"/>
              </a:spcAft>
            </a:pPr>
            <a:r>
              <a:rPr sz="1600" b="0" i="0">
                <a:solidFill>
                  <a:srgbClr val="555B63"/>
                </a:solidFill>
                <a:latin typeface="Calibri"/>
              </a:rPr>
              <a:t>Test period 18 Jun 2020 – 1 Apr 2021 · 6,912 day-ahead forecasts · identical timestamps for every model</a:t>
            </a:r>
          </a:p>
        </p:txBody>
      </p:sp>
      <p:sp>
        <p:nvSpPr>
          <p:cNvPr id="4" name="Rounded Rectangle 3"/>
          <p:cNvSpPr/>
          <p:nvPr/>
        </p:nvSpPr>
        <p:spPr>
          <a:xfrm>
            <a:off x="548640" y="1645920"/>
            <a:ext cx="2697480" cy="1417320"/>
          </a:xfrm>
          <a:prstGeom prst="roundRect">
            <a:avLst>
              <a:gd name="adj" fmla="val 80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55648"/>
            <a:ext cx="2423160" cy="731520"/>
          </a:xfrm>
          <a:prstGeom prst="rect">
            <a:avLst/>
          </a:prstGeom>
          <a:noFill/>
        </p:spPr>
        <p:txBody>
          <a:bodyPr wrap="square" anchor="t" lIns="45720" rIns="45720">
            <a:spAutoFit/>
          </a:bodyPr>
          <a:lstStyle/>
          <a:p>
            <a:pPr algn="l">
              <a:spcAft>
                <a:spcPts val="600"/>
              </a:spcAft>
            </a:pPr>
            <a:r>
              <a:rPr sz="4000" b="1" i="0">
                <a:solidFill>
                  <a:srgbClr val="EB6834"/>
                </a:solidFill>
                <a:latin typeface="Cambria"/>
              </a:rPr>
              <a:t>−26.4%</a:t>
            </a:r>
          </a:p>
        </p:txBody>
      </p:sp>
      <p:sp>
        <p:nvSpPr>
          <p:cNvPr id="6" name="TextBox 5"/>
          <p:cNvSpPr txBox="1"/>
          <p:nvPr/>
        </p:nvSpPr>
        <p:spPr>
          <a:xfrm>
            <a:off x="685800" y="2487168"/>
            <a:ext cx="2423160" cy="548640"/>
          </a:xfrm>
          <a:prstGeom prst="rect">
            <a:avLst/>
          </a:prstGeom>
          <a:noFill/>
        </p:spPr>
        <p:txBody>
          <a:bodyPr wrap="square" anchor="t" lIns="45720" rIns="45720">
            <a:spAutoFit/>
          </a:bodyPr>
          <a:lstStyle/>
          <a:p>
            <a:pPr algn="l">
              <a:spcAft>
                <a:spcPts val="600"/>
              </a:spcAft>
            </a:pPr>
            <a:r>
              <a:rPr sz="1300" b="0" i="0">
                <a:solidFill>
                  <a:srgbClr val="555B63"/>
                </a:solidFill>
                <a:latin typeface="Calibri"/>
              </a:rPr>
              <a:t>MAE 271 → 199 m³/h</a:t>
            </a:r>
          </a:p>
        </p:txBody>
      </p:sp>
      <p:sp>
        <p:nvSpPr>
          <p:cNvPr id="7" name="Rounded Rectangle 6"/>
          <p:cNvSpPr/>
          <p:nvPr/>
        </p:nvSpPr>
        <p:spPr>
          <a:xfrm>
            <a:off x="3429000" y="1645920"/>
            <a:ext cx="2697480" cy="1417320"/>
          </a:xfrm>
          <a:prstGeom prst="roundRect">
            <a:avLst>
              <a:gd name="adj" fmla="val 80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1755648"/>
            <a:ext cx="2423160" cy="731520"/>
          </a:xfrm>
          <a:prstGeom prst="rect">
            <a:avLst/>
          </a:prstGeom>
          <a:noFill/>
        </p:spPr>
        <p:txBody>
          <a:bodyPr wrap="square" anchor="t" lIns="45720" rIns="45720">
            <a:spAutoFit/>
          </a:bodyPr>
          <a:lstStyle/>
          <a:p>
            <a:pPr algn="l">
              <a:spcAft>
                <a:spcPts val="600"/>
              </a:spcAft>
            </a:pPr>
            <a:r>
              <a:rPr sz="4000" b="1" i="0">
                <a:solidFill>
                  <a:srgbClr val="EB6834"/>
                </a:solidFill>
                <a:latin typeface="Cambria"/>
              </a:rPr>
              <a:t>−27.3%</a:t>
            </a:r>
          </a:p>
        </p:txBody>
      </p:sp>
      <p:sp>
        <p:nvSpPr>
          <p:cNvPr id="9" name="TextBox 8"/>
          <p:cNvSpPr txBox="1"/>
          <p:nvPr/>
        </p:nvSpPr>
        <p:spPr>
          <a:xfrm>
            <a:off x="3566160" y="2487168"/>
            <a:ext cx="2423160" cy="548640"/>
          </a:xfrm>
          <a:prstGeom prst="rect">
            <a:avLst/>
          </a:prstGeom>
          <a:noFill/>
        </p:spPr>
        <p:txBody>
          <a:bodyPr wrap="square" anchor="t" lIns="45720" rIns="45720">
            <a:spAutoFit/>
          </a:bodyPr>
          <a:lstStyle/>
          <a:p>
            <a:pPr algn="l">
              <a:spcAft>
                <a:spcPts val="600"/>
              </a:spcAft>
            </a:pPr>
            <a:r>
              <a:rPr sz="1300" b="0" i="0">
                <a:solidFill>
                  <a:srgbClr val="555B63"/>
                </a:solidFill>
                <a:latin typeface="Calibri"/>
              </a:rPr>
              <a:t>RMSE 382 → 278 m³/h</a:t>
            </a:r>
          </a:p>
        </p:txBody>
      </p:sp>
      <p:sp>
        <p:nvSpPr>
          <p:cNvPr id="10" name="Rounded Rectangle 9"/>
          <p:cNvSpPr/>
          <p:nvPr/>
        </p:nvSpPr>
        <p:spPr>
          <a:xfrm>
            <a:off x="6309360" y="1645920"/>
            <a:ext cx="2697480" cy="1417320"/>
          </a:xfrm>
          <a:prstGeom prst="roundRect">
            <a:avLst>
              <a:gd name="adj" fmla="val 80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755648"/>
            <a:ext cx="2423160" cy="731520"/>
          </a:xfrm>
          <a:prstGeom prst="rect">
            <a:avLst/>
          </a:prstGeom>
          <a:noFill/>
        </p:spPr>
        <p:txBody>
          <a:bodyPr wrap="square" anchor="t" lIns="45720" rIns="45720">
            <a:spAutoFit/>
          </a:bodyPr>
          <a:lstStyle/>
          <a:p>
            <a:pPr algn="l">
              <a:spcAft>
                <a:spcPts val="600"/>
              </a:spcAft>
            </a:pPr>
            <a:r>
              <a:rPr sz="4000" b="1" i="0">
                <a:solidFill>
                  <a:srgbClr val="EB6834"/>
                </a:solidFill>
                <a:latin typeface="Cambria"/>
              </a:rPr>
              <a:t>11.2%</a:t>
            </a:r>
          </a:p>
        </p:txBody>
      </p:sp>
      <p:sp>
        <p:nvSpPr>
          <p:cNvPr id="12" name="TextBox 11"/>
          <p:cNvSpPr txBox="1"/>
          <p:nvPr/>
        </p:nvSpPr>
        <p:spPr>
          <a:xfrm>
            <a:off x="6446520" y="2487168"/>
            <a:ext cx="2423160" cy="548640"/>
          </a:xfrm>
          <a:prstGeom prst="rect">
            <a:avLst/>
          </a:prstGeom>
          <a:noFill/>
        </p:spPr>
        <p:txBody>
          <a:bodyPr wrap="square" anchor="t" lIns="45720" rIns="45720">
            <a:spAutoFit/>
          </a:bodyPr>
          <a:lstStyle/>
          <a:p>
            <a:pPr algn="l">
              <a:spcAft>
                <a:spcPts val="600"/>
              </a:spcAft>
            </a:pPr>
            <a:r>
              <a:rPr sz="1300" b="0" i="0">
                <a:solidFill>
                  <a:srgbClr val="555B63"/>
                </a:solidFill>
                <a:latin typeface="Calibri"/>
              </a:rPr>
              <a:t>MAPE (SARIMA 15.9%)</a:t>
            </a:r>
          </a:p>
        </p:txBody>
      </p:sp>
      <p:sp>
        <p:nvSpPr>
          <p:cNvPr id="13" name="Rounded Rectangle 12"/>
          <p:cNvSpPr/>
          <p:nvPr/>
        </p:nvSpPr>
        <p:spPr>
          <a:xfrm>
            <a:off x="9189720" y="1645920"/>
            <a:ext cx="2468880" cy="1417320"/>
          </a:xfrm>
          <a:prstGeom prst="roundRect">
            <a:avLst>
              <a:gd name="adj" fmla="val 80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0" y="1755648"/>
            <a:ext cx="2194560" cy="731520"/>
          </a:xfrm>
          <a:prstGeom prst="rect">
            <a:avLst/>
          </a:prstGeom>
          <a:noFill/>
        </p:spPr>
        <p:txBody>
          <a:bodyPr wrap="square" anchor="t" lIns="45720" rIns="45720">
            <a:spAutoFit/>
          </a:bodyPr>
          <a:lstStyle/>
          <a:p>
            <a:pPr algn="l">
              <a:spcAft>
                <a:spcPts val="600"/>
              </a:spcAft>
            </a:pPr>
            <a:r>
              <a:rPr sz="4000" b="1" i="0">
                <a:solidFill>
                  <a:srgbClr val="EB6834"/>
                </a:solidFill>
                <a:latin typeface="Cambria"/>
              </a:rPr>
              <a:t>237/288</a:t>
            </a:r>
          </a:p>
        </p:txBody>
      </p:sp>
      <p:sp>
        <p:nvSpPr>
          <p:cNvPr id="15" name="TextBox 14"/>
          <p:cNvSpPr txBox="1"/>
          <p:nvPr/>
        </p:nvSpPr>
        <p:spPr>
          <a:xfrm>
            <a:off x="9326880" y="2487168"/>
            <a:ext cx="2194560" cy="548640"/>
          </a:xfrm>
          <a:prstGeom prst="rect">
            <a:avLst/>
          </a:prstGeom>
          <a:noFill/>
        </p:spPr>
        <p:txBody>
          <a:bodyPr wrap="square" anchor="t" lIns="45720" rIns="45720">
            <a:spAutoFit/>
          </a:bodyPr>
          <a:lstStyle/>
          <a:p>
            <a:pPr algn="l">
              <a:spcAft>
                <a:spcPts val="600"/>
              </a:spcAft>
            </a:pPr>
            <a:r>
              <a:rPr sz="1300" b="0" i="0">
                <a:solidFill>
                  <a:srgbClr val="555B63"/>
                </a:solidFill>
                <a:latin typeface="Calibri"/>
              </a:rPr>
              <a:t>test days with lower MAE</a:t>
            </a:r>
          </a:p>
        </p:txBody>
      </p:sp>
      <p:pic>
        <p:nvPicPr>
          <p:cNvPr id="16" name="Picture 15" descr="fig14_metric_comparison.png"/>
          <p:cNvPicPr>
            <a:picLocks noChangeAspect="1"/>
          </p:cNvPicPr>
          <p:nvPr/>
        </p:nvPicPr>
        <p:blipFill>
          <a:blip r:embed="rId3"/>
          <a:stretch>
            <a:fillRect/>
          </a:stretch>
        </p:blipFill>
        <p:spPr>
          <a:xfrm>
            <a:off x="548640" y="3291840"/>
            <a:ext cx="6949440" cy="2337256"/>
          </a:xfrm>
          <a:prstGeom prst="rect">
            <a:avLst/>
          </a:prstGeom>
        </p:spPr>
      </p:pic>
      <p:sp>
        <p:nvSpPr>
          <p:cNvPr id="17" name="Rounded Rectangle 16"/>
          <p:cNvSpPr/>
          <p:nvPr/>
        </p:nvSpPr>
        <p:spPr>
          <a:xfrm>
            <a:off x="7772400" y="3291840"/>
            <a:ext cx="3886200" cy="2926080"/>
          </a:xfrm>
          <a:prstGeom prst="roundRect">
            <a:avLst>
              <a:gd name="adj" fmla="val 80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9560" y="3383280"/>
            <a:ext cx="3611880" cy="2834640"/>
          </a:xfrm>
          <a:prstGeom prst="rect">
            <a:avLst/>
          </a:prstGeom>
          <a:noFill/>
        </p:spPr>
        <p:txBody>
          <a:bodyPr wrap="square" anchor="t" lIns="45720" rIns="45720">
            <a:spAutoFit/>
          </a:bodyPr>
          <a:lstStyle/>
          <a:p>
            <a:pPr algn="l">
              <a:spcAft>
                <a:spcPts val="600"/>
              </a:spcAft>
            </a:pPr>
            <a:r>
              <a:rPr sz="1600" b="1" i="0">
                <a:solidFill>
                  <a:srgbClr val="12466B"/>
                </a:solidFill>
                <a:latin typeface="Calibri"/>
              </a:rPr>
              <a:t>Is it significant?</a:t>
            </a:r>
          </a:p>
          <a:p>
            <a:pPr algn="l">
              <a:spcAft>
                <a:spcPts val="600"/>
              </a:spcAft>
            </a:pPr>
            <a:r>
              <a:rPr sz="1400" b="0" i="0">
                <a:solidFill>
                  <a:srgbClr val="1A1A1A"/>
                </a:solidFill>
                <a:latin typeface="Calibri"/>
              </a:rPr>
              <a:t>Diebold–Mariano: DM = 10.9, p &lt; 0.001</a:t>
            </a:r>
          </a:p>
          <a:p>
            <a:pPr algn="l">
              <a:spcAft>
                <a:spcPts val="600"/>
              </a:spcAft>
            </a:pPr>
            <a:r>
              <a:rPr sz="1400" b="0" i="0">
                <a:solidFill>
                  <a:srgbClr val="1A1A1A"/>
                </a:solidFill>
                <a:latin typeface="Calibri"/>
              </a:rPr>
              <a:t>Bootstrap 95% CI, MAE reduction: 21.8–31.9%</a:t>
            </a:r>
          </a:p>
          <a:p>
            <a:pPr algn="l">
              <a:spcAft>
                <a:spcPts val="600"/>
              </a:spcAft>
            </a:pPr>
            <a:r>
              <a:rPr sz="1400" b="0" i="0">
                <a:solidFill>
                  <a:srgbClr val="1A1A1A"/>
                </a:solidFill>
                <a:latin typeface="Calibri"/>
              </a:rPr>
              <a:t>SARIMA vs weekly naive: p = 0.43 (not significant)</a:t>
            </a:r>
          </a:p>
        </p:txBody>
      </p:sp>
      <p:sp>
        <p:nvSpPr>
          <p:cNvPr id="19" name="TextBox 18"/>
          <p:cNvSpPr txBox="1"/>
          <p:nvPr/>
        </p:nvSpPr>
        <p:spPr>
          <a:xfrm>
            <a:off x="548640" y="6400800"/>
            <a:ext cx="8229600" cy="320040"/>
          </a:xfrm>
          <a:prstGeom prst="rect">
            <a:avLst/>
          </a:prstGeom>
          <a:noFill/>
        </p:spPr>
        <p:txBody>
          <a:bodyPr wrap="square" anchor="t" lIns="45720" rIns="45720">
            <a:spAutoFit/>
          </a:bodyPr>
          <a:lstStyle/>
          <a:p>
            <a:pPr algn="l">
              <a:spcAft>
                <a:spcPts val="600"/>
              </a:spcAft>
            </a:pPr>
            <a:r>
              <a:rPr sz="1000" b="0" i="0">
                <a:solidFill>
                  <a:srgbClr val="555B63"/>
                </a:solidFill>
                <a:latin typeface="Calibri"/>
              </a:rPr>
              <a:t>Hourly Urban Water Demand Forecasting · Time Series Analysis (24AM7PCTSA)</a:t>
            </a:r>
          </a:p>
        </p:txBody>
      </p:sp>
      <p:sp>
        <p:nvSpPr>
          <p:cNvPr id="20" name="TextBox 19"/>
          <p:cNvSpPr txBox="1"/>
          <p:nvPr/>
        </p:nvSpPr>
        <p:spPr>
          <a:xfrm>
            <a:off x="10911535" y="6400800"/>
            <a:ext cx="731520" cy="320040"/>
          </a:xfrm>
          <a:prstGeom prst="rect">
            <a:avLst/>
          </a:prstGeom>
          <a:noFill/>
        </p:spPr>
        <p:txBody>
          <a:bodyPr wrap="square" anchor="t" lIns="45720" rIns="45720">
            <a:spAutoFit/>
          </a:bodyPr>
          <a:lstStyle/>
          <a:p>
            <a:pPr algn="r">
              <a:spcAft>
                <a:spcPts val="600"/>
              </a:spcAft>
            </a:pPr>
            <a:r>
              <a:rPr sz="1000" b="0" i="0">
                <a:solidFill>
                  <a:srgbClr val="555B63"/>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lIns="45720" rIns="45720">
            <a:spAutoFit/>
          </a:bodyPr>
          <a:lstStyle/>
          <a:p>
            <a:pPr algn="l">
              <a:spcAft>
                <a:spcPts val="600"/>
              </a:spcAft>
            </a:pPr>
            <a:r>
              <a:rPr sz="3400" b="1" i="0">
                <a:solidFill>
                  <a:srgbClr val="0B2E4A"/>
                </a:solidFill>
                <a:latin typeface="Cambria"/>
              </a:rPr>
              <a:t>Why it works: mornings and weekends</a:t>
            </a:r>
          </a:p>
        </p:txBody>
      </p:sp>
      <p:pic>
        <p:nvPicPr>
          <p:cNvPr id="3" name="Picture 2" descr="fig10_error_breakdown.png"/>
          <p:cNvPicPr>
            <a:picLocks noChangeAspect="1"/>
          </p:cNvPicPr>
          <p:nvPr/>
        </p:nvPicPr>
        <p:blipFill>
          <a:blip r:embed="rId3"/>
          <a:stretch>
            <a:fillRect/>
          </a:stretch>
        </p:blipFill>
        <p:spPr>
          <a:xfrm>
            <a:off x="548640" y="1188720"/>
            <a:ext cx="6217920" cy="2554410"/>
          </a:xfrm>
          <a:prstGeom prst="rect">
            <a:avLst/>
          </a:prstGeom>
        </p:spPr>
      </p:pic>
      <p:sp>
        <p:nvSpPr>
          <p:cNvPr id="4" name="Rounded Rectangle 3"/>
          <p:cNvSpPr/>
          <p:nvPr/>
        </p:nvSpPr>
        <p:spPr>
          <a:xfrm>
            <a:off x="8595360" y="1234440"/>
            <a:ext cx="3063240" cy="1417320"/>
          </a:xfrm>
          <a:prstGeom prst="roundRect">
            <a:avLst>
              <a:gd name="adj" fmla="val 80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32520" y="1344168"/>
            <a:ext cx="2788920" cy="731520"/>
          </a:xfrm>
          <a:prstGeom prst="rect">
            <a:avLst/>
          </a:prstGeom>
          <a:noFill/>
        </p:spPr>
        <p:txBody>
          <a:bodyPr wrap="square" anchor="t" lIns="45720" rIns="45720">
            <a:spAutoFit/>
          </a:bodyPr>
          <a:lstStyle/>
          <a:p>
            <a:pPr algn="l">
              <a:spcAft>
                <a:spcPts val="600"/>
              </a:spcAft>
            </a:pPr>
            <a:r>
              <a:rPr sz="3600" b="1" i="0">
                <a:solidFill>
                  <a:srgbClr val="2A78D6"/>
                </a:solidFill>
                <a:latin typeface="Cambria"/>
              </a:rPr>
              <a:t>289</a:t>
            </a:r>
          </a:p>
        </p:txBody>
      </p:sp>
      <p:sp>
        <p:nvSpPr>
          <p:cNvPr id="6" name="TextBox 5"/>
          <p:cNvSpPr txBox="1"/>
          <p:nvPr/>
        </p:nvSpPr>
        <p:spPr>
          <a:xfrm>
            <a:off x="8732520" y="2075688"/>
            <a:ext cx="2788920" cy="548640"/>
          </a:xfrm>
          <a:prstGeom prst="rect">
            <a:avLst/>
          </a:prstGeom>
          <a:noFill/>
        </p:spPr>
        <p:txBody>
          <a:bodyPr wrap="square" anchor="t" lIns="45720" rIns="45720">
            <a:spAutoFit/>
          </a:bodyPr>
          <a:lstStyle/>
          <a:p>
            <a:pPr algn="l">
              <a:spcAft>
                <a:spcPts val="600"/>
              </a:spcAft>
            </a:pPr>
            <a:r>
              <a:rPr sz="1300" b="0" i="0">
                <a:solidFill>
                  <a:srgbClr val="555B63"/>
                </a:solidFill>
                <a:latin typeface="Calibri"/>
              </a:rPr>
              <a:t>MAE without weekly component (worse than SARIMA)</a:t>
            </a:r>
          </a:p>
        </p:txBody>
      </p:sp>
      <p:sp>
        <p:nvSpPr>
          <p:cNvPr id="7" name="Rounded Rectangle 6"/>
          <p:cNvSpPr/>
          <p:nvPr/>
        </p:nvSpPr>
        <p:spPr>
          <a:xfrm>
            <a:off x="8595360" y="2788920"/>
            <a:ext cx="3063240" cy="1417320"/>
          </a:xfrm>
          <a:prstGeom prst="roundRect">
            <a:avLst>
              <a:gd name="adj" fmla="val 80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32520" y="2898648"/>
            <a:ext cx="2788920" cy="731520"/>
          </a:xfrm>
          <a:prstGeom prst="rect">
            <a:avLst/>
          </a:prstGeom>
          <a:noFill/>
        </p:spPr>
        <p:txBody>
          <a:bodyPr wrap="square" anchor="t" lIns="45720" rIns="45720">
            <a:spAutoFit/>
          </a:bodyPr>
          <a:lstStyle/>
          <a:p>
            <a:pPr algn="l">
              <a:spcAft>
                <a:spcPts val="600"/>
              </a:spcAft>
            </a:pPr>
            <a:r>
              <a:rPr sz="3200" b="1" i="0">
                <a:solidFill>
                  <a:srgbClr val="EB6834"/>
                </a:solidFill>
                <a:latin typeface="Cambria"/>
              </a:rPr>
              <a:t>0.56 → 0.03</a:t>
            </a:r>
          </a:p>
        </p:txBody>
      </p:sp>
      <p:sp>
        <p:nvSpPr>
          <p:cNvPr id="9" name="TextBox 8"/>
          <p:cNvSpPr txBox="1"/>
          <p:nvPr/>
        </p:nvSpPr>
        <p:spPr>
          <a:xfrm>
            <a:off x="8732520" y="3630168"/>
            <a:ext cx="2788920" cy="548640"/>
          </a:xfrm>
          <a:prstGeom prst="rect">
            <a:avLst/>
          </a:prstGeom>
          <a:noFill/>
        </p:spPr>
        <p:txBody>
          <a:bodyPr wrap="square" anchor="t" lIns="45720" rIns="45720">
            <a:spAutoFit/>
          </a:bodyPr>
          <a:lstStyle/>
          <a:p>
            <a:pPr algn="l">
              <a:spcAft>
                <a:spcPts val="600"/>
              </a:spcAft>
            </a:pPr>
            <a:r>
              <a:rPr sz="1300" b="0" i="0">
                <a:solidFill>
                  <a:srgbClr val="555B63"/>
                </a:solidFill>
                <a:latin typeface="Calibri"/>
              </a:rPr>
              <a:t>error autocorrelation at lag 168</a:t>
            </a:r>
          </a:p>
        </p:txBody>
      </p:sp>
      <p:pic>
        <p:nvPicPr>
          <p:cNvPr id="10" name="Picture 9" descr="fig09_test_forecasts_two_weeks.png"/>
          <p:cNvPicPr>
            <a:picLocks noChangeAspect="1"/>
          </p:cNvPicPr>
          <p:nvPr/>
        </p:nvPicPr>
        <p:blipFill>
          <a:blip r:embed="rId4"/>
          <a:stretch>
            <a:fillRect/>
          </a:stretch>
        </p:blipFill>
        <p:spPr>
          <a:xfrm>
            <a:off x="548640" y="3840480"/>
            <a:ext cx="5852160" cy="2330713"/>
          </a:xfrm>
          <a:prstGeom prst="rect">
            <a:avLst/>
          </a:prstGeom>
        </p:spPr>
      </p:pic>
      <p:sp>
        <p:nvSpPr>
          <p:cNvPr id="11" name="TextBox 10"/>
          <p:cNvSpPr txBox="1"/>
          <p:nvPr/>
        </p:nvSpPr>
        <p:spPr>
          <a:xfrm>
            <a:off x="7680960" y="4343400"/>
            <a:ext cx="3977639" cy="1920240"/>
          </a:xfrm>
          <a:prstGeom prst="rect">
            <a:avLst/>
          </a:prstGeom>
          <a:noFill/>
        </p:spPr>
        <p:txBody>
          <a:bodyPr wrap="square" anchor="t" lIns="45720" rIns="45720">
            <a:spAutoFit/>
          </a:bodyPr>
          <a:lstStyle/>
          <a:p>
            <a:pPr algn="l">
              <a:spcAft>
                <a:spcPts val="600"/>
              </a:spcAft>
            </a:pPr>
            <a:r>
              <a:rPr sz="1500" b="0" i="0">
                <a:solidFill>
                  <a:srgbClr val="1A1A1A"/>
                </a:solidFill>
                <a:latin typeface="Calibri"/>
              </a:rPr>
              <a:t>Weekend MAE: SARIMA 370 vs MSTL 223</a:t>
            </a:r>
          </a:p>
          <a:p>
            <a:pPr algn="l">
              <a:spcAft>
                <a:spcPts val="600"/>
              </a:spcAft>
            </a:pPr>
            <a:r>
              <a:rPr sz="1500" b="0" i="0">
                <a:solidFill>
                  <a:srgbClr val="1A1A1A"/>
                </a:solidFill>
                <a:latin typeface="Calibri"/>
              </a:rPr>
              <a:t>07:00 MAE: SARIMA 736 vs MSTL 271</a:t>
            </a:r>
          </a:p>
          <a:p>
            <a:pPr algn="l">
              <a:spcAft>
                <a:spcPts val="600"/>
              </a:spcAft>
            </a:pPr>
            <a:r>
              <a:rPr sz="1500" b="0" i="0">
                <a:solidFill>
                  <a:srgbClr val="1A1A1A"/>
                </a:solidFill>
                <a:latin typeface="Calibri"/>
              </a:rPr>
              <a:t>MSTL wins in all 11 test months</a:t>
            </a:r>
          </a:p>
        </p:txBody>
      </p:sp>
      <p:sp>
        <p:nvSpPr>
          <p:cNvPr id="12" name="TextBox 11"/>
          <p:cNvSpPr txBox="1"/>
          <p:nvPr/>
        </p:nvSpPr>
        <p:spPr>
          <a:xfrm>
            <a:off x="548640" y="6400800"/>
            <a:ext cx="8229600" cy="320040"/>
          </a:xfrm>
          <a:prstGeom prst="rect">
            <a:avLst/>
          </a:prstGeom>
          <a:noFill/>
        </p:spPr>
        <p:txBody>
          <a:bodyPr wrap="square" anchor="t" lIns="45720" rIns="45720">
            <a:spAutoFit/>
          </a:bodyPr>
          <a:lstStyle/>
          <a:p>
            <a:pPr algn="l">
              <a:spcAft>
                <a:spcPts val="600"/>
              </a:spcAft>
            </a:pPr>
            <a:r>
              <a:rPr sz="1000" b="0" i="0">
                <a:solidFill>
                  <a:srgbClr val="555B63"/>
                </a:solidFill>
                <a:latin typeface="Calibri"/>
              </a:rPr>
              <a:t>Hourly Urban Water Demand Forecasting · Time Series Analysis (24AM7PCTSA)</a:t>
            </a:r>
          </a:p>
        </p:txBody>
      </p:sp>
      <p:sp>
        <p:nvSpPr>
          <p:cNvPr id="13" name="TextBox 12"/>
          <p:cNvSpPr txBox="1"/>
          <p:nvPr/>
        </p:nvSpPr>
        <p:spPr>
          <a:xfrm>
            <a:off x="10911535" y="6400800"/>
            <a:ext cx="731520" cy="320040"/>
          </a:xfrm>
          <a:prstGeom prst="rect">
            <a:avLst/>
          </a:prstGeom>
          <a:noFill/>
        </p:spPr>
        <p:txBody>
          <a:bodyPr wrap="square" anchor="t" lIns="45720" rIns="45720">
            <a:spAutoFit/>
          </a:bodyPr>
          <a:lstStyle/>
          <a:p>
            <a:pPr algn="r">
              <a:spcAft>
                <a:spcPts val="600"/>
              </a:spcAft>
            </a:pPr>
            <a:r>
              <a:rPr sz="1000" b="0" i="0">
                <a:solidFill>
                  <a:srgbClr val="555B63"/>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t" lIns="45720" rIns="45720">
            <a:spAutoFit/>
          </a:bodyPr>
          <a:lstStyle/>
          <a:p>
            <a:pPr algn="l">
              <a:spcAft>
                <a:spcPts val="600"/>
              </a:spcAft>
            </a:pPr>
            <a:r>
              <a:rPr sz="3400" b="1" i="0">
                <a:solidFill>
                  <a:srgbClr val="0B2E4A"/>
                </a:solidFill>
                <a:latin typeface="Cambria"/>
              </a:rPr>
              <a:t>Discussion, implications and limitations</a:t>
            </a:r>
          </a:p>
        </p:txBody>
      </p:sp>
      <p:sp>
        <p:nvSpPr>
          <p:cNvPr id="3" name="Rounded Rectangle 2"/>
          <p:cNvSpPr/>
          <p:nvPr/>
        </p:nvSpPr>
        <p:spPr>
          <a:xfrm>
            <a:off x="548640" y="1371600"/>
            <a:ext cx="3566160" cy="4846320"/>
          </a:xfrm>
          <a:prstGeom prst="roundRect">
            <a:avLst>
              <a:gd name="adj" fmla="val 80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200400" cy="457200"/>
          </a:xfrm>
          <a:prstGeom prst="rect">
            <a:avLst/>
          </a:prstGeom>
          <a:noFill/>
        </p:spPr>
        <p:txBody>
          <a:bodyPr wrap="square" anchor="t" lIns="45720" rIns="45720">
            <a:spAutoFit/>
          </a:bodyPr>
          <a:lstStyle/>
          <a:p>
            <a:pPr algn="l">
              <a:spcAft>
                <a:spcPts val="600"/>
              </a:spcAft>
            </a:pPr>
            <a:r>
              <a:rPr sz="1900" b="1" i="0">
                <a:solidFill>
                  <a:srgbClr val="12466B"/>
                </a:solidFill>
                <a:latin typeface="Cambria"/>
              </a:rPr>
              <a:t>What we found</a:t>
            </a:r>
          </a:p>
        </p:txBody>
      </p:sp>
      <p:sp>
        <p:nvSpPr>
          <p:cNvPr id="5" name="TextBox 4"/>
          <p:cNvSpPr txBox="1"/>
          <p:nvPr/>
        </p:nvSpPr>
        <p:spPr>
          <a:xfrm>
            <a:off x="731520" y="2011680"/>
            <a:ext cx="3246120" cy="4114800"/>
          </a:xfrm>
          <a:prstGeom prst="rect">
            <a:avLst/>
          </a:prstGeom>
          <a:noFill/>
        </p:spPr>
        <p:txBody>
          <a:bodyPr wrap="square">
            <a:spAutoFit/>
          </a:bodyPr>
          <a:lstStyle/>
          <a:p>
            <a:pPr>
              <a:spcAft>
                <a:spcPts val="800"/>
              </a:spcAft>
            </a:pPr>
            <a:r>
              <a:rPr sz="1500" b="0">
                <a:solidFill>
                  <a:srgbClr val="1A1A1A"/>
                </a:solidFill>
                <a:latin typeface="Calibri"/>
              </a:rPr>
              <a:t>•  H1 supported: lower MAE and RMSE, significant</a:t>
            </a:r>
          </a:p>
          <a:p>
            <a:pPr>
              <a:spcAft>
                <a:spcPts val="800"/>
              </a:spcAft>
            </a:pPr>
            <a:r>
              <a:rPr sz="1500" b="0">
                <a:solidFill>
                  <a:srgbClr val="1A1A1A"/>
                </a:solidFill>
                <a:latin typeface="Calibri"/>
              </a:rPr>
              <a:t>•  Gain comes from the weekly cycle (ablation)</a:t>
            </a:r>
          </a:p>
          <a:p>
            <a:pPr>
              <a:spcAft>
                <a:spcPts val="800"/>
              </a:spcAft>
            </a:pPr>
            <a:r>
              <a:rPr sz="1500" b="0">
                <a:solidFill>
                  <a:srgbClr val="1A1A1A"/>
                </a:solidFill>
                <a:latin typeface="Calibri"/>
              </a:rPr>
              <a:t>•  Agrees with Taylor (2003) and Arandia et al. (2016)</a:t>
            </a:r>
          </a:p>
        </p:txBody>
      </p:sp>
      <p:sp>
        <p:nvSpPr>
          <p:cNvPr id="6" name="Rounded Rectangle 5"/>
          <p:cNvSpPr/>
          <p:nvPr/>
        </p:nvSpPr>
        <p:spPr>
          <a:xfrm>
            <a:off x="4297680" y="1371600"/>
            <a:ext cx="3566160" cy="4846320"/>
          </a:xfrm>
          <a:prstGeom prst="roundRect">
            <a:avLst>
              <a:gd name="adj" fmla="val 80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80560" y="1463040"/>
            <a:ext cx="3200400" cy="457200"/>
          </a:xfrm>
          <a:prstGeom prst="rect">
            <a:avLst/>
          </a:prstGeom>
          <a:noFill/>
        </p:spPr>
        <p:txBody>
          <a:bodyPr wrap="square" anchor="t" lIns="45720" rIns="45720">
            <a:spAutoFit/>
          </a:bodyPr>
          <a:lstStyle/>
          <a:p>
            <a:pPr algn="l">
              <a:spcAft>
                <a:spcPts val="600"/>
              </a:spcAft>
            </a:pPr>
            <a:r>
              <a:rPr sz="1900" b="1" i="0">
                <a:solidFill>
                  <a:srgbClr val="12466B"/>
                </a:solidFill>
                <a:latin typeface="Cambria"/>
              </a:rPr>
              <a:t>Possible use</a:t>
            </a:r>
          </a:p>
        </p:txBody>
      </p:sp>
      <p:sp>
        <p:nvSpPr>
          <p:cNvPr id="8" name="TextBox 7"/>
          <p:cNvSpPr txBox="1"/>
          <p:nvPr/>
        </p:nvSpPr>
        <p:spPr>
          <a:xfrm>
            <a:off x="4480560" y="2011680"/>
            <a:ext cx="3246120" cy="4114800"/>
          </a:xfrm>
          <a:prstGeom prst="rect">
            <a:avLst/>
          </a:prstGeom>
          <a:noFill/>
        </p:spPr>
        <p:txBody>
          <a:bodyPr wrap="square">
            <a:spAutoFit/>
          </a:bodyPr>
          <a:lstStyle/>
          <a:p>
            <a:pPr>
              <a:spcAft>
                <a:spcPts val="800"/>
              </a:spcAft>
            </a:pPr>
            <a:r>
              <a:rPr sz="1500" b="0">
                <a:solidFill>
                  <a:srgbClr val="1A1A1A"/>
                </a:solidFill>
                <a:latin typeface="Calibri"/>
              </a:rPr>
              <a:t>•  Day-ahead pump and tank planning</a:t>
            </a:r>
          </a:p>
          <a:p>
            <a:pPr>
              <a:spcAft>
                <a:spcPts val="800"/>
              </a:spcAft>
            </a:pPr>
            <a:r>
              <a:rPr sz="1500" b="0">
                <a:solidFill>
                  <a:srgbClr val="1A1A1A"/>
                </a:solidFill>
                <a:latin typeface="Calibri"/>
              </a:rPr>
              <a:t>•  Cheap: past consumption only, ~1 s per day</a:t>
            </a:r>
          </a:p>
          <a:p>
            <a:pPr>
              <a:spcAft>
                <a:spcPts val="800"/>
              </a:spcAft>
            </a:pPr>
            <a:r>
              <a:rPr sz="1500" b="0">
                <a:solidFill>
                  <a:srgbClr val="1A1A1A"/>
                </a:solidFill>
                <a:latin typeface="Calibri"/>
              </a:rPr>
              <a:t>•  SDG 6 link: better-informed supply planning (savings not measured)</a:t>
            </a:r>
          </a:p>
        </p:txBody>
      </p:sp>
      <p:sp>
        <p:nvSpPr>
          <p:cNvPr id="9" name="Rounded Rectangle 8"/>
          <p:cNvSpPr/>
          <p:nvPr/>
        </p:nvSpPr>
        <p:spPr>
          <a:xfrm>
            <a:off x="8046720" y="1371600"/>
            <a:ext cx="3611880" cy="4846320"/>
          </a:xfrm>
          <a:prstGeom prst="roundRect">
            <a:avLst>
              <a:gd name="adj" fmla="val 80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463040"/>
            <a:ext cx="3291840" cy="457200"/>
          </a:xfrm>
          <a:prstGeom prst="rect">
            <a:avLst/>
          </a:prstGeom>
          <a:noFill/>
        </p:spPr>
        <p:txBody>
          <a:bodyPr wrap="square" anchor="t" lIns="45720" rIns="45720">
            <a:spAutoFit/>
          </a:bodyPr>
          <a:lstStyle/>
          <a:p>
            <a:pPr algn="l">
              <a:spcAft>
                <a:spcPts val="600"/>
              </a:spcAft>
            </a:pPr>
            <a:r>
              <a:rPr sz="1900" b="1" i="0">
                <a:solidFill>
                  <a:srgbClr val="12466B"/>
                </a:solidFill>
                <a:latin typeface="Cambria"/>
              </a:rPr>
              <a:t>Limitations</a:t>
            </a:r>
          </a:p>
        </p:txBody>
      </p:sp>
      <p:sp>
        <p:nvSpPr>
          <p:cNvPr id="11" name="TextBox 10"/>
          <p:cNvSpPr txBox="1"/>
          <p:nvPr/>
        </p:nvSpPr>
        <p:spPr>
          <a:xfrm>
            <a:off x="8229600" y="2011680"/>
            <a:ext cx="3291840" cy="4114800"/>
          </a:xfrm>
          <a:prstGeom prst="rect">
            <a:avLst/>
          </a:prstGeom>
          <a:noFill/>
        </p:spPr>
        <p:txBody>
          <a:bodyPr wrap="square">
            <a:spAutoFit/>
          </a:bodyPr>
          <a:lstStyle/>
          <a:p>
            <a:pPr>
              <a:spcAft>
                <a:spcPts val="800"/>
              </a:spcAft>
            </a:pPr>
            <a:r>
              <a:rPr sz="1500" b="0">
                <a:solidFill>
                  <a:srgbClr val="1A1A1A"/>
                </a:solidFill>
                <a:latin typeface="Calibri"/>
              </a:rPr>
              <a:t>•  One district; test overlaps 2020–21</a:t>
            </a:r>
          </a:p>
          <a:p>
            <a:pPr>
              <a:spcAft>
                <a:spcPts val="800"/>
              </a:spcAft>
            </a:pPr>
            <a:r>
              <a:rPr sz="1500" b="0">
                <a:solidFill>
                  <a:srgbClr val="1A1A1A"/>
                </a:solidFill>
                <a:latin typeface="Calibri"/>
              </a:rPr>
              <a:t>•  Weather-driven summer peaks missed</a:t>
            </a:r>
          </a:p>
          <a:p>
            <a:pPr>
              <a:spcAft>
                <a:spcPts val="800"/>
              </a:spcAft>
            </a:pPr>
            <a:r>
              <a:rPr sz="1500" b="0">
                <a:solidFill>
                  <a:srgbClr val="1A1A1A"/>
                </a:solidFill>
                <a:latin typeface="Calibri"/>
              </a:rPr>
              <a:t>•  No holidays, no prediction intervals</a:t>
            </a:r>
          </a:p>
          <a:p>
            <a:pPr>
              <a:spcAft>
                <a:spcPts val="800"/>
              </a:spcAft>
            </a:pPr>
            <a:r>
              <a:rPr sz="1500" b="0">
                <a:solidFill>
                  <a:srgbClr val="1A1A1A"/>
                </a:solidFill>
                <a:latin typeface="Calibri"/>
              </a:rPr>
              <a:t>•  Not compared with TBATS / double-seasonal HW</a:t>
            </a:r>
          </a:p>
        </p:txBody>
      </p:sp>
      <p:sp>
        <p:nvSpPr>
          <p:cNvPr id="12" name="TextBox 11"/>
          <p:cNvSpPr txBox="1"/>
          <p:nvPr/>
        </p:nvSpPr>
        <p:spPr>
          <a:xfrm>
            <a:off x="548640" y="6400800"/>
            <a:ext cx="8229600" cy="320040"/>
          </a:xfrm>
          <a:prstGeom prst="rect">
            <a:avLst/>
          </a:prstGeom>
          <a:noFill/>
        </p:spPr>
        <p:txBody>
          <a:bodyPr wrap="square" anchor="t" lIns="45720" rIns="45720">
            <a:spAutoFit/>
          </a:bodyPr>
          <a:lstStyle/>
          <a:p>
            <a:pPr algn="l">
              <a:spcAft>
                <a:spcPts val="600"/>
              </a:spcAft>
            </a:pPr>
            <a:r>
              <a:rPr sz="1000" b="0" i="0">
                <a:solidFill>
                  <a:srgbClr val="555B63"/>
                </a:solidFill>
                <a:latin typeface="Calibri"/>
              </a:rPr>
              <a:t>Hourly Urban Water Demand Forecasting · Time Series Analysis (24AM7PCTSA)</a:t>
            </a:r>
          </a:p>
        </p:txBody>
      </p:sp>
      <p:sp>
        <p:nvSpPr>
          <p:cNvPr id="13" name="TextBox 12"/>
          <p:cNvSpPr txBox="1"/>
          <p:nvPr/>
        </p:nvSpPr>
        <p:spPr>
          <a:xfrm>
            <a:off x="10911535" y="6400800"/>
            <a:ext cx="731520" cy="320040"/>
          </a:xfrm>
          <a:prstGeom prst="rect">
            <a:avLst/>
          </a:prstGeom>
          <a:noFill/>
        </p:spPr>
        <p:txBody>
          <a:bodyPr wrap="square" anchor="t" lIns="45720" rIns="45720">
            <a:spAutoFit/>
          </a:bodyPr>
          <a:lstStyle/>
          <a:p>
            <a:pPr algn="r">
              <a:spcAft>
                <a:spcPts val="600"/>
              </a:spcAft>
            </a:pPr>
            <a:r>
              <a:rPr sz="1000" b="0" i="0">
                <a:solidFill>
                  <a:srgbClr val="555B63"/>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2E4A"/>
        </a:solidFill>
        <a:effectLst/>
      </p:bgPr>
    </p:bg>
    <p:spTree>
      <p:nvGrpSpPr>
        <p:cNvPr id="1" name=""/>
        <p:cNvGrpSpPr/>
        <p:nvPr/>
      </p:nvGrpSpPr>
      <p:grpSpPr/>
      <p:sp>
        <p:nvSpPr>
          <p:cNvPr id="2" name="TextBox 1"/>
          <p:cNvSpPr txBox="1"/>
          <p:nvPr/>
        </p:nvSpPr>
        <p:spPr>
          <a:xfrm>
            <a:off x="731520" y="640080"/>
            <a:ext cx="10515600" cy="731520"/>
          </a:xfrm>
          <a:prstGeom prst="rect">
            <a:avLst/>
          </a:prstGeom>
          <a:noFill/>
        </p:spPr>
        <p:txBody>
          <a:bodyPr wrap="square" anchor="t" lIns="45720" rIns="45720">
            <a:spAutoFit/>
          </a:bodyPr>
          <a:lstStyle/>
          <a:p>
            <a:pPr algn="l">
              <a:spcAft>
                <a:spcPts val="600"/>
              </a:spcAft>
            </a:pPr>
            <a:r>
              <a:rPr sz="4000" b="1" i="0">
                <a:solidFill>
                  <a:srgbClr val="FFFFFF"/>
                </a:solidFill>
                <a:latin typeface="Cambria"/>
              </a:rPr>
              <a:t>Conclusion</a:t>
            </a:r>
          </a:p>
        </p:txBody>
      </p:sp>
      <p:sp>
        <p:nvSpPr>
          <p:cNvPr id="3" name="TextBox 2"/>
          <p:cNvSpPr txBox="1"/>
          <p:nvPr/>
        </p:nvSpPr>
        <p:spPr>
          <a:xfrm>
            <a:off x="731520" y="1554480"/>
            <a:ext cx="6583680" cy="3474720"/>
          </a:xfrm>
          <a:prstGeom prst="rect">
            <a:avLst/>
          </a:prstGeom>
          <a:noFill/>
        </p:spPr>
        <p:txBody>
          <a:bodyPr wrap="square">
            <a:spAutoFit/>
          </a:bodyPr>
          <a:lstStyle/>
          <a:p>
            <a:pPr>
              <a:spcAft>
                <a:spcPts val="800"/>
              </a:spcAft>
            </a:pPr>
            <a:r>
              <a:rPr sz="1700" b="0">
                <a:solidFill>
                  <a:srgbClr val="FFFFFF"/>
                </a:solidFill>
                <a:latin typeface="Calibri"/>
              </a:rPr>
              <a:t>•  Water demand here has a daily cycle and a weekly change in daily shape</a:t>
            </a:r>
          </a:p>
          <a:p>
            <a:pPr>
              <a:spcAft>
                <a:spcPts val="800"/>
              </a:spcAft>
            </a:pPr>
            <a:r>
              <a:rPr sz="1700" b="0">
                <a:solidFill>
                  <a:srgbClr val="FFFFFF"/>
                </a:solidFill>
                <a:latin typeface="Calibri"/>
              </a:rPr>
              <a:t>•  SARIMA(3,0,1)(0,1,1)24 misses the weekly part and is no better than copying last week</a:t>
            </a:r>
          </a:p>
          <a:p>
            <a:pPr>
              <a:spcAft>
                <a:spcPts val="800"/>
              </a:spcAft>
            </a:pPr>
            <a:r>
              <a:rPr sz="1700" b="0">
                <a:solidFill>
                  <a:srgbClr val="FFFFFF"/>
                </a:solidFill>
                <a:latin typeface="Calibri"/>
              </a:rPr>
              <a:t>•  MSTL (24 h + 168 h) + ARIMA: MAE −26.4%, RMSE −27.3%, significant</a:t>
            </a:r>
          </a:p>
          <a:p>
            <a:pPr>
              <a:spcAft>
                <a:spcPts val="800"/>
              </a:spcAft>
            </a:pPr>
            <a:r>
              <a:rPr sz="1700" b="0">
                <a:solidFill>
                  <a:srgbClr val="FFFFFF"/>
                </a:solidFill>
                <a:latin typeface="Calibri"/>
              </a:rPr>
              <a:t>•  Future: holidays, weather forecasts, prediction intervals, more districts</a:t>
            </a:r>
          </a:p>
        </p:txBody>
      </p:sp>
      <p:sp>
        <p:nvSpPr>
          <p:cNvPr id="4" name="TextBox 3"/>
          <p:cNvSpPr txBox="1"/>
          <p:nvPr/>
        </p:nvSpPr>
        <p:spPr>
          <a:xfrm>
            <a:off x="7680960" y="1600200"/>
            <a:ext cx="4023360" cy="4206240"/>
          </a:xfrm>
          <a:prstGeom prst="rect">
            <a:avLst/>
          </a:prstGeom>
          <a:noFill/>
        </p:spPr>
        <p:txBody>
          <a:bodyPr wrap="square" anchor="t" lIns="45720" rIns="45720">
            <a:spAutoFit/>
          </a:bodyPr>
          <a:lstStyle/>
          <a:p>
            <a:pPr algn="l">
              <a:spcAft>
                <a:spcPts val="600"/>
              </a:spcAft>
            </a:pPr>
            <a:r>
              <a:rPr sz="1500" b="1" i="0">
                <a:solidFill>
                  <a:srgbClr val="9EC5F4"/>
                </a:solidFill>
                <a:latin typeface="Calibri"/>
              </a:rPr>
              <a:t>Key references</a:t>
            </a:r>
          </a:p>
          <a:p>
            <a:pPr algn="l">
              <a:spcAft>
                <a:spcPts val="600"/>
              </a:spcAft>
            </a:pPr>
            <a:r>
              <a:rPr sz="1200" b="0" i="0">
                <a:solidFill>
                  <a:srgbClr val="D6E2EE"/>
                </a:solidFill>
                <a:latin typeface="Calibri"/>
              </a:rPr>
              <a:t>Arandia et al. (2016) JWRPM 142(3)</a:t>
            </a:r>
          </a:p>
          <a:p>
            <a:pPr algn="l">
              <a:spcAft>
                <a:spcPts val="600"/>
              </a:spcAft>
            </a:pPr>
            <a:r>
              <a:rPr sz="1200" b="0" i="0">
                <a:solidFill>
                  <a:srgbClr val="D6E2EE"/>
                </a:solidFill>
                <a:latin typeface="Calibri"/>
              </a:rPr>
              <a:t>Bandara et al. (2021) arXiv:2107.13462</a:t>
            </a:r>
          </a:p>
          <a:p>
            <a:pPr algn="l">
              <a:spcAft>
                <a:spcPts val="600"/>
              </a:spcAft>
            </a:pPr>
            <a:r>
              <a:rPr sz="1200" b="0" i="0">
                <a:solidFill>
                  <a:srgbClr val="D6E2EE"/>
                </a:solidFill>
                <a:latin typeface="Calibri"/>
              </a:rPr>
              <a:t>Donkor et al. (2014) JWRPM 140(2)</a:t>
            </a:r>
          </a:p>
          <a:p>
            <a:pPr algn="l">
              <a:spcAft>
                <a:spcPts val="600"/>
              </a:spcAft>
            </a:pPr>
            <a:r>
              <a:rPr sz="1200" b="0" i="0">
                <a:solidFill>
                  <a:srgbClr val="D6E2EE"/>
                </a:solidFill>
                <a:latin typeface="Calibri"/>
              </a:rPr>
              <a:t>Herrera et al. (2010) J. Hydrology 387</a:t>
            </a:r>
          </a:p>
          <a:p>
            <a:pPr algn="l">
              <a:spcAft>
                <a:spcPts val="600"/>
              </a:spcAft>
            </a:pPr>
            <a:r>
              <a:rPr sz="1200" b="0" i="0">
                <a:solidFill>
                  <a:srgbClr val="D6E2EE"/>
                </a:solidFill>
                <a:latin typeface="Calibri"/>
              </a:rPr>
              <a:t>Pacchin et al. (2019) WRM 33(4)</a:t>
            </a:r>
          </a:p>
          <a:p>
            <a:pPr algn="l">
              <a:spcAft>
                <a:spcPts val="600"/>
              </a:spcAft>
            </a:pPr>
            <a:r>
              <a:rPr sz="1200" b="0" i="0">
                <a:solidFill>
                  <a:srgbClr val="D6E2EE"/>
                </a:solidFill>
                <a:latin typeface="Calibri"/>
              </a:rPr>
              <a:t>Taylor (2003) JORS 54(8)</a:t>
            </a:r>
          </a:p>
          <a:p>
            <a:pPr algn="l">
              <a:spcAft>
                <a:spcPts val="600"/>
              </a:spcAft>
            </a:pPr>
            <a:r>
              <a:rPr sz="1200" b="0" i="0">
                <a:solidFill>
                  <a:srgbClr val="D6E2EE"/>
                </a:solidFill>
                <a:latin typeface="Calibri"/>
              </a:rPr>
              <a:t>Weyrauch et al. (2024) arXiv:2405.03429; dataset doi:10.5281/zenodo.11045013</a:t>
            </a:r>
          </a:p>
        </p:txBody>
      </p:sp>
      <p:sp>
        <p:nvSpPr>
          <p:cNvPr id="5" name="TextBox 4"/>
          <p:cNvSpPr txBox="1"/>
          <p:nvPr/>
        </p:nvSpPr>
        <p:spPr>
          <a:xfrm>
            <a:off x="731520" y="5669280"/>
            <a:ext cx="10515600" cy="548640"/>
          </a:xfrm>
          <a:prstGeom prst="rect">
            <a:avLst/>
          </a:prstGeom>
          <a:noFill/>
        </p:spPr>
        <p:txBody>
          <a:bodyPr wrap="square" anchor="t" lIns="45720" rIns="45720">
            <a:spAutoFit/>
          </a:bodyPr>
          <a:lstStyle/>
          <a:p>
            <a:pPr algn="l">
              <a:spcAft>
                <a:spcPts val="600"/>
              </a:spcAft>
            </a:pPr>
            <a:r>
              <a:rPr sz="2400" b="1" i="0">
                <a:solidFill>
                  <a:srgbClr val="F5B493"/>
                </a:solidFill>
                <a:latin typeface="Cambria"/>
              </a:rP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